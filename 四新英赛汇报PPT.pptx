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28.svg" ContentType="image/svg+xml"/>
  <Override PartName="/ppt/media/image3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27" d="100"/>
          <a:sy n="127" d="100"/>
        </p:scale>
        <p:origin x="536" y="192"/>
      </p:cViewPr>
      <p:guideLst>
        <p:guide orient="horz" pos="21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50" b="1" i="0" u="none" strike="noStrike" kern="1200" baseline="0">
                <a:solidFill>
                  <a:srgbClr val="1A2230"/>
                </a:solidFill>
                <a:latin typeface="+mn-lt"/>
                <a:ea typeface="+mn-ea"/>
                <a:cs typeface="+mn-cs"/>
              </a:defRPr>
            </a:pPr>
            <a:r>
              <a:rPr sz="1350">
                <a:solidFill>
                  <a:srgbClr val="1A2230"/>
                </a:solidFill>
              </a:rPr>
              <a:t>Reported Human Brucellosis Cases in China (thousand)</a:t>
            </a:r>
            <a:endParaRPr sz="1350">
              <a:solidFill>
                <a:srgbClr val="1A2230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Reported cases (thousand)</c:v>
                </c:pt>
              </c:strCache>
            </c:strRef>
          </c:tx>
          <c:spPr>
            <a:solidFill>
              <a:srgbClr val="1E4FA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1A2230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{"2020","2021","2022","2023","2024"}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{47.4,67.8,66.1,70.4,62.1}</c:f>
              <c:numCache>
                <c:formatCode>General</c:formatCode>
                <c:ptCount val="5"/>
                <c:pt idx="0">
                  <c:v>47.4</c:v>
                </c:pt>
                <c:pt idx="1">
                  <c:v>67.8</c:v>
                </c:pt>
                <c:pt idx="2">
                  <c:v>66.1</c:v>
                </c:pt>
                <c:pt idx="3">
                  <c:v>70.4</c:v>
                </c:pt>
                <c:pt idx="4">
                  <c:v>62.1</c:v>
                </c:pt>
              </c:numCache>
            </c:numRef>
          </c:val>
        </c:ser>
        <c:dLbls>
          <c:showLegendKey val="1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8B97A8"/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8B97A8"/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62da60a-dc48-4112-9b7e-35f32f3243c8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svg"/><Relationship Id="rId1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rot="0">
          <a:off x="-9223372036854775808" y="-9223372036854775808"/>
          <a:ext cx="0" cy="0"/>
          <a:chOff x="0" y="0"/>
          <a:chExt cx="12192000" cy="685800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457200" y="22860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2026 FLTRP·ETIC Cup — Understanding Contemporary China</a:t>
            </a:r>
            <a:endParaRPr lang="en-US" sz="1050" spc="38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9544050" y="228600"/>
            <a:ext cx="2190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CD0EE"/>
                </a:solidFill>
                <a:latin typeface="Microsoft YaHei" panose="020B0503020204020204" charset="-122"/>
                <a:ea typeface="Microsoft YaHei" panose="020B0503020204020204" charset="-122"/>
              </a:rPr>
              <a:t>Four New Disciplines Special Track</a:t>
            </a:r>
            <a:endParaRPr lang="en-US" sz="1050">
              <a:solidFill>
                <a:srgbClr val="BCD0E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57200" y="1371600"/>
            <a:ext cx="3143250" cy="247650"/>
          </a:xfrm>
          <a:prstGeom prst="roundRect">
            <a:avLst>
              <a:gd name="adj" fmla="val 3842308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590550" y="1422400"/>
            <a:ext cx="2876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ENGLISH PRESENTATION · 3-MIN VIDEO</a:t>
            </a:r>
            <a:endParaRPr lang="en-US" sz="975" b="1" spc="75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533400" y="1803400"/>
            <a:ext cx="67310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22000"/>
              </a:lnSpc>
            </a:pPr>
            <a:r>
              <a:rPr lang="zh-CN" sz="4000" b="1">
                <a:solidFill>
                  <a:srgbClr val="0E3F8C"/>
                </a:solidFill>
                <a:latin typeface="Times New Roman" panose="02020603050405020304"/>
                <a:ea typeface="Times New Roman" panose="02020603050405020304"/>
              </a:rPr>
              <a:t>One Health in Action</a:t>
            </a:r>
            <a:endParaRPr lang="zh-CN" sz="4000" b="1">
              <a:solidFill>
                <a:srgbClr val="0E3F8C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457200" y="3810000"/>
            <a:ext cx="66675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0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A Low-Cost, Grassroots-Adaptable China Solution</a:t>
            </a:r>
            <a:endParaRPr lang="en-US" sz="1500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57200" y="4394200"/>
            <a:ext cx="942975" cy="266700"/>
          </a:xfrm>
          <a:prstGeom prst="roundRect">
            <a:avLst>
              <a:gd name="adj" fmla="val 3567857"/>
            </a:avLst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590550" y="4445000"/>
            <a:ext cx="6762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One Health</a:t>
            </a:r>
            <a:endParaRPr lang="en-US" sz="975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1495425" y="4394200"/>
            <a:ext cx="1247775" cy="266700"/>
          </a:xfrm>
          <a:prstGeom prst="roundRect">
            <a:avLst>
              <a:gd name="adj" fmla="val 3567857"/>
            </a:avLst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1628775" y="4445000"/>
            <a:ext cx="981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AI Early Warning</a:t>
            </a:r>
            <a:endParaRPr lang="en-US" sz="975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2838450" y="4394200"/>
            <a:ext cx="895350" cy="266700"/>
          </a:xfrm>
          <a:prstGeom prst="roundRect">
            <a:avLst>
              <a:gd name="adj" fmla="val 3567857"/>
            </a:avLst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2971800" y="4445000"/>
            <a:ext cx="628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Brucellosis</a:t>
            </a:r>
            <a:endParaRPr lang="en-US" sz="975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829050" y="4394200"/>
            <a:ext cx="828675" cy="266700"/>
          </a:xfrm>
          <a:prstGeom prst="roundRect">
            <a:avLst>
              <a:gd name="adj" fmla="val 3567857"/>
            </a:avLst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3962400" y="4445000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Low-Cost</a:t>
            </a:r>
            <a:endParaRPr lang="en-US" sz="975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752975" y="4394200"/>
            <a:ext cx="1562100" cy="266700"/>
          </a:xfrm>
          <a:prstGeom prst="roundRect">
            <a:avLst>
              <a:gd name="adj" fmla="val 3567857"/>
            </a:avLst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4886325" y="4445000"/>
            <a:ext cx="1295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Grassroots-Adaptable</a:t>
            </a:r>
            <a:endParaRPr lang="en-US" sz="975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0" y="6324600"/>
            <a:ext cx="12192000" cy="533400"/>
          </a:xfrm>
          <a:custGeom>
            <a:avLst/>
            <a:gdLst/>
            <a:ahLst/>
            <a:cxnLst/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p/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457200" y="6515100"/>
            <a:ext cx="3829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 panose="020B0503020204020204" charset="-122"/>
                <a:ea typeface="Microsoft YaHei" panose="020B0503020204020204" charset="-122"/>
              </a:rPr>
              <a:t>One Health in Action · AI-Powered Brucellosis Early Warning</a:t>
            </a:r>
            <a:endParaRPr lang="en-US" sz="1050">
              <a:solidFill>
                <a:srgbClr val="8B97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11420475" y="6515100"/>
            <a:ext cx="314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 panose="020B0503020204020204" charset="-122"/>
                <a:ea typeface="Microsoft YaHei" panose="020B0503020204020204" charset="-122"/>
              </a:rPr>
              <a:t>2026</a:t>
            </a:r>
            <a:endParaRPr lang="en-US" sz="1050">
              <a:solidFill>
                <a:srgbClr val="8B97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33400" y="2641600"/>
            <a:ext cx="685800" cy="38100"/>
          </a:xfrm>
          <a:prstGeom prst="rect">
            <a:avLst/>
          </a:prstGeom>
          <a:solidFill>
            <a:srgbClr val="3D7BD9"/>
          </a:solidFill>
          <a:ln>
            <a:noFill/>
          </a:ln>
        </p:spPr>
        <p:txBody>
          <a:bodyPr/>
          <a:p/>
        </p:txBody>
      </p:sp>
      <p:sp>
        <p:nvSpPr>
          <p:cNvPr id="24" name="椭圆 23"/>
          <p:cNvSpPr/>
          <p:nvPr/>
        </p:nvSpPr>
        <p:spPr>
          <a:xfrm>
            <a:off x="8369300" y="1676400"/>
            <a:ext cx="1168400" cy="1168400"/>
          </a:xfrm>
          <a:prstGeom prst="ellipse">
            <a:avLst/>
          </a:prstGeom>
          <a:solidFill>
            <a:srgbClr val="E8EFF8"/>
          </a:solidFill>
          <a:ln w="190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25" name="椭圆 24"/>
          <p:cNvSpPr/>
          <p:nvPr/>
        </p:nvSpPr>
        <p:spPr>
          <a:xfrm>
            <a:off x="10274300" y="1676400"/>
            <a:ext cx="1168400" cy="1168400"/>
          </a:xfrm>
          <a:prstGeom prst="ellipse">
            <a:avLst/>
          </a:prstGeom>
          <a:solidFill>
            <a:srgbClr val="E8EFF8"/>
          </a:solidFill>
          <a:ln w="1905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26" name="椭圆 25"/>
          <p:cNvSpPr/>
          <p:nvPr/>
        </p:nvSpPr>
        <p:spPr>
          <a:xfrm>
            <a:off x="9321800" y="3987800"/>
            <a:ext cx="1168400" cy="1168400"/>
          </a:xfrm>
          <a:prstGeom prst="ellipse">
            <a:avLst/>
          </a:prstGeom>
          <a:solidFill>
            <a:srgbClr val="E8EFF8"/>
          </a:solidFill>
          <a:ln w="19050">
            <a:solidFill>
              <a:srgbClr val="0E3F8C"/>
            </a:solidFill>
            <a:prstDash val="solid"/>
          </a:ln>
        </p:spPr>
        <p:txBody>
          <a:bodyPr/>
          <a:p/>
        </p:txBody>
      </p:sp>
      <p:sp>
        <p:nvSpPr>
          <p:cNvPr id="27" name="圆角矩形 26"/>
          <p:cNvSpPr/>
          <p:nvPr/>
        </p:nvSpPr>
        <p:spPr>
          <a:xfrm>
            <a:off x="9080500" y="3022600"/>
            <a:ext cx="1651000" cy="609600"/>
          </a:xfrm>
          <a:prstGeom prst="roundRect">
            <a:avLst>
              <a:gd name="adj" fmla="val 4376"/>
            </a:avLst>
          </a:prstGeom>
          <a:solidFill>
            <a:srgbClr val="0E3F8C"/>
          </a:solidFill>
          <a:ln>
            <a:noFill/>
          </a:ln>
        </p:spPr>
        <p:txBody>
          <a:bodyPr/>
          <a:p/>
        </p:txBody>
      </p:sp>
      <p:sp>
        <p:nvSpPr>
          <p:cNvPr id="28" name="直接连接符 27"/>
          <p:cNvSpPr/>
          <p:nvPr/>
        </p:nvSpPr>
        <p:spPr>
          <a:xfrm flipH="1" flipV="1">
            <a:off x="9207500" y="2794000"/>
            <a:ext cx="292100" cy="254000"/>
          </a:xfrm>
          <a:prstGeom prst="line">
            <a:avLst/>
          </a:prstGeom>
          <a:noFill/>
          <a:ln w="15875">
            <a:solidFill>
              <a:srgbClr val="8B97A8"/>
            </a:solidFill>
            <a:prstDash val="dash"/>
          </a:ln>
        </p:spPr>
        <p:txBody>
          <a:bodyPr/>
          <a:p/>
        </p:txBody>
      </p:sp>
      <p:sp>
        <p:nvSpPr>
          <p:cNvPr id="29" name="直接连接符 28"/>
          <p:cNvSpPr/>
          <p:nvPr/>
        </p:nvSpPr>
        <p:spPr>
          <a:xfrm flipV="1">
            <a:off x="10312400" y="2794000"/>
            <a:ext cx="292100" cy="254000"/>
          </a:xfrm>
          <a:prstGeom prst="line">
            <a:avLst/>
          </a:prstGeom>
          <a:noFill/>
          <a:ln w="15875">
            <a:solidFill>
              <a:srgbClr val="8B97A8"/>
            </a:solidFill>
            <a:prstDash val="dash"/>
          </a:ln>
        </p:spPr>
        <p:txBody>
          <a:bodyPr/>
          <a:p/>
        </p:txBody>
      </p:sp>
      <p:sp>
        <p:nvSpPr>
          <p:cNvPr id="30" name="直接连接符 29"/>
          <p:cNvSpPr/>
          <p:nvPr/>
        </p:nvSpPr>
        <p:spPr>
          <a:xfrm>
            <a:off x="9906000" y="3657600"/>
            <a:ext cx="0" cy="304800"/>
          </a:xfrm>
          <a:prstGeom prst="line">
            <a:avLst/>
          </a:prstGeom>
          <a:noFill/>
          <a:ln w="15875">
            <a:solidFill>
              <a:srgbClr val="8B97A8"/>
            </a:solidFill>
            <a:prstDash val="dash"/>
          </a:ln>
        </p:spPr>
        <p:txBody>
          <a:bodyPr/>
          <a:p/>
        </p:txBody>
      </p:sp>
      <p:sp>
        <p:nvSpPr>
          <p:cNvPr id="31" name="矩形 30"/>
          <p:cNvSpPr/>
          <p:nvPr/>
        </p:nvSpPr>
        <p:spPr>
          <a:xfrm>
            <a:off x="533400" y="2819400"/>
            <a:ext cx="6731000" cy="7874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900">
                <a:solidFill>
                  <a:srgbClr val="1E4FA8"/>
                </a:solidFill>
                <a:latin typeface="Times New Roman" panose="02020603050405020304"/>
                <a:ea typeface="Times New Roman" panose="02020603050405020304"/>
              </a:rPr>
              <a:t>An AI-Powered Early-Warning System for Brucellosis Prevention</a:t>
            </a:r>
            <a:endParaRPr lang="zh-CN" sz="1900">
              <a:solidFill>
                <a:srgbClr val="1E4FA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9169400" y="313690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 b="1">
                <a:solidFill>
                  <a:srgbClr val="FFFFFF"/>
                </a:solidFill>
              </a:rPr>
              <a:t>AI EARLY-WARNING</a:t>
            </a:r>
            <a:endParaRPr lang="zh-CN" sz="1000" b="1">
              <a:solidFill>
                <a:srgbClr val="FFFFFF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296400" y="3352800"/>
            <a:ext cx="1219200" cy="139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800">
                <a:solidFill>
                  <a:srgbClr val="9FB9E4"/>
                </a:solidFill>
              </a:rPr>
              <a:t>Risk Fusion Engine</a:t>
            </a:r>
            <a:endParaRPr lang="zh-CN" sz="800">
              <a:solidFill>
                <a:srgbClr val="9FB9E4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610600" y="2197100"/>
            <a:ext cx="685800" cy="1651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 b="1">
                <a:solidFill>
                  <a:srgbClr val="0E3F8C"/>
                </a:solidFill>
              </a:rPr>
              <a:t>HUMAN</a:t>
            </a:r>
            <a:endParaRPr lang="zh-CN" sz="1000" b="1">
              <a:solidFill>
                <a:srgbClr val="0E3F8C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604500" y="2197100"/>
            <a:ext cx="768985" cy="201295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 b="1">
                <a:solidFill>
                  <a:srgbClr val="0E3F8C"/>
                </a:solidFill>
              </a:rPr>
              <a:t>ANIMAL</a:t>
            </a:r>
            <a:endParaRPr lang="zh-CN" sz="1000" b="1">
              <a:solidFill>
                <a:srgbClr val="0E3F8C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9410700" y="4483100"/>
            <a:ext cx="1079500" cy="206375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00" b="1">
                <a:solidFill>
                  <a:srgbClr val="0E3F8C"/>
                </a:solidFill>
              </a:rPr>
              <a:t>ENVIRONMENT</a:t>
            </a:r>
            <a:endParaRPr lang="zh-CN" sz="1000" b="1">
              <a:solidFill>
                <a:srgbClr val="0E3F8C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33400" y="5334000"/>
            <a:ext cx="67310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300" i="1">
                <a:solidFill>
                  <a:srgbClr val="8B97A8"/>
                </a:solidFill>
                <a:latin typeface="Times New Roman" panose="02020603050405020304"/>
                <a:ea typeface="Times New Roman" panose="02020603050405020304"/>
              </a:rPr>
              <a:t>From fragmented control to One Health early warning.</a:t>
            </a:r>
            <a:endParaRPr lang="zh-CN" sz="1300" i="1">
              <a:solidFill>
                <a:srgbClr val="8B97A8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矩形 1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27" name="矩形 126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381000" y="161925"/>
            <a:ext cx="4038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9FB9E4"/>
                </a:solidFill>
                <a:latin typeface="Microsoft YaHei" panose="020B0503020204020204" charset="-122"/>
                <a:ea typeface="Microsoft YaHei" panose="020B0503020204020204" charset="-122"/>
              </a:rPr>
              <a:t>PART 1 · IDENTIFYING THE PROBLEM</a:t>
            </a:r>
            <a:endParaRPr lang="en-US" sz="975" spc="150">
              <a:solidFill>
                <a:srgbClr val="9FB9E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381000" y="352425"/>
            <a:ext cx="4038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Background and Significance</a:t>
            </a:r>
            <a:endParaRPr lang="en-US" sz="217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11239500" y="142875"/>
            <a:ext cx="5715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>
                    <a:alpha val="18000"/>
                  </a:srgbClr>
                </a:solidFill>
                <a:latin typeface="Microsoft YaHei" panose="020B0503020204020204" charset="-122"/>
                <a:ea typeface="Microsoft YaHei" panose="020B0503020204020204" charset="-122"/>
              </a:rPr>
              <a:t>02</a:t>
            </a:r>
            <a:endParaRPr lang="en-US" sz="3600" b="1">
              <a:solidFill>
                <a:srgbClr val="FFFFFF">
                  <a:alpha val="18000"/>
                </a:srgb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381000" y="1066800"/>
            <a:ext cx="3048000" cy="5181600"/>
          </a:xfrm>
          <a:prstGeom prst="roundRect">
            <a:avLst>
              <a:gd name="adj" fmla="val 3125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609600" y="1295400"/>
            <a:ext cx="25908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One Health</a:t>
            </a:r>
            <a:endParaRPr lang="en-US" sz="28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609600" y="1866900"/>
            <a:ext cx="53340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609600" y="2028825"/>
            <a:ext cx="2590800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BCD0EE"/>
                </a:solidFill>
                <a:latin typeface="Microsoft YaHei" panose="020B0503020204020204" charset="-122"/>
                <a:ea typeface="Microsoft YaHei" panose="020B0503020204020204" charset="-122"/>
              </a:rPr>
              <a:t>Integrated prevention across humans, animals and the environment.</a:t>
            </a:r>
            <a:endParaRPr lang="en-US" sz="1275">
              <a:solidFill>
                <a:srgbClr val="BCD0E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35" name="图片 13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4400550"/>
            <a:ext cx="1905000" cy="1619250"/>
          </a:xfrm>
          <a:prstGeom prst="rect">
            <a:avLst/>
          </a:prstGeom>
        </p:spPr>
      </p:pic>
      <p:sp>
        <p:nvSpPr>
          <p:cNvPr id="136" name="圆角矩形 135"/>
          <p:cNvSpPr/>
          <p:nvPr/>
        </p:nvSpPr>
        <p:spPr>
          <a:xfrm>
            <a:off x="3657600" y="10668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0F5FC"/>
          </a:solidFill>
        </p:spPr>
        <p:txBody>
          <a:bodyPr/>
          <a:p/>
        </p:txBody>
      </p:sp>
      <p:pic>
        <p:nvPicPr>
          <p:cNvPr id="137" name="图片 1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62375" y="1171575"/>
            <a:ext cx="209550" cy="209550"/>
          </a:xfrm>
          <a:prstGeom prst="rect">
            <a:avLst/>
          </a:prstGeom>
        </p:spPr>
      </p:pic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4210050" y="1066800"/>
            <a:ext cx="7600950" cy="733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65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High-burden zoonosis</a:t>
            </a:r>
            <a:r>
              <a:rPr lang="en-US" sz="1650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 — spreads mainly from cattle and sheep to humans; insidious, chronic and recurrent.</a:t>
            </a:r>
            <a:endParaRPr lang="en-US" sz="1650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9" name="圆角矩形 138"/>
          <p:cNvSpPr/>
          <p:nvPr/>
        </p:nvSpPr>
        <p:spPr>
          <a:xfrm>
            <a:off x="3657600" y="19335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0F5FC"/>
          </a:solidFill>
        </p:spPr>
        <p:txBody>
          <a:bodyPr/>
          <a:p/>
        </p:txBody>
      </p:sp>
      <p:pic>
        <p:nvPicPr>
          <p:cNvPr id="140" name="图片 13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62375" y="2038350"/>
            <a:ext cx="209550" cy="209550"/>
          </a:xfrm>
          <a:prstGeom prst="rect">
            <a:avLst/>
          </a:prstGeom>
        </p:spPr>
      </p:pic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4210050" y="1933575"/>
            <a:ext cx="7600950" cy="733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65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Neglected yet severe</a:t>
            </a:r>
            <a:r>
              <a:rPr lang="en-US" sz="1650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 — the WHO lists it among the most overlooked threats to public health.</a:t>
            </a:r>
            <a:endParaRPr lang="en-US" sz="1650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2" name="圆角矩形 141"/>
          <p:cNvSpPr/>
          <p:nvPr/>
        </p:nvSpPr>
        <p:spPr>
          <a:xfrm>
            <a:off x="3657600" y="28003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0F5FC"/>
          </a:solidFill>
        </p:spPr>
        <p:txBody>
          <a:bodyPr/>
          <a:p/>
        </p:txBody>
      </p:sp>
      <p:pic>
        <p:nvPicPr>
          <p:cNvPr id="143" name="图片 14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62375" y="2905125"/>
            <a:ext cx="209550" cy="209550"/>
          </a:xfrm>
          <a:prstGeom prst="rect">
            <a:avLst/>
          </a:prstGeom>
        </p:spPr>
      </p:pic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4210050" y="2800350"/>
            <a:ext cx="7600950" cy="733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65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One Health required</a:t>
            </a:r>
            <a:r>
              <a:rPr lang="en-US" sz="1650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 — control must integrate human, animal and environmental health.</a:t>
            </a:r>
            <a:endParaRPr lang="en-US" sz="1650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5" name="圆角矩形 144"/>
          <p:cNvSpPr/>
          <p:nvPr/>
        </p:nvSpPr>
        <p:spPr>
          <a:xfrm>
            <a:off x="3657600" y="366712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0F5FC"/>
          </a:solidFill>
        </p:spPr>
        <p:txBody>
          <a:bodyPr/>
          <a:p/>
        </p:txBody>
      </p:sp>
      <p:pic>
        <p:nvPicPr>
          <p:cNvPr id="146" name="图片 145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62375" y="3771900"/>
            <a:ext cx="209550" cy="209550"/>
          </a:xfrm>
          <a:prstGeom prst="rect">
            <a:avLst/>
          </a:prstGeom>
        </p:spPr>
      </p:pic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4210050" y="3667125"/>
            <a:ext cx="7600950" cy="733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65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A real global gap</a:t>
            </a:r>
            <a:r>
              <a:rPr lang="en-US" sz="1650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 — affordable, grassroots-adaptable early warning is still missing.</a:t>
            </a:r>
            <a:endParaRPr lang="en-US" sz="1650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8" name="圆角矩形 147"/>
          <p:cNvSpPr/>
          <p:nvPr/>
        </p:nvSpPr>
        <p:spPr>
          <a:xfrm>
            <a:off x="3695700" y="4533900"/>
            <a:ext cx="8153400" cy="742950"/>
          </a:xfrm>
          <a:prstGeom prst="roundRect">
            <a:avLst>
              <a:gd name="adj" fmla="val 7692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149" name="任意多边形 148"/>
          <p:cNvSpPr/>
          <p:nvPr/>
        </p:nvSpPr>
        <p:spPr>
          <a:xfrm>
            <a:off x="3695700" y="4533900"/>
            <a:ext cx="8153400" cy="742950"/>
          </a:xfrm>
          <a:custGeom>
            <a:avLst/>
            <a:gdLst/>
            <a:ahLst/>
            <a:cxnLst/>
            <a:pathLst>
              <a:path w="856" h="78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76"/>
                </a:lnTo>
                <a:cubicBezTo>
                  <a:pt x="4" y="77"/>
                  <a:pt x="5" y="78"/>
                  <a:pt x="6" y="78"/>
                </a:cubicBezTo>
                <a:cubicBezTo>
                  <a:pt x="3" y="78"/>
                  <a:pt x="0" y="75"/>
                  <a:pt x="0" y="7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3867150" y="4648200"/>
            <a:ext cx="77724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0E3F8C"/>
                </a:solidFill>
                <a:latin typeface="Times New Roman" panose="02020603050405020304"/>
                <a:ea typeface="Times New Roman" panose="02020603050405020304"/>
              </a:rPr>
              <a:t>Brucellosis is among the most neglected diseases, yet it poses a major threat to public health.</a:t>
            </a:r>
            <a:endParaRPr lang="zh-CN" sz="1350">
              <a:solidFill>
                <a:srgbClr val="0E3F8C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3867150" y="5000625"/>
            <a:ext cx="7772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— World Health Organization, Brucellosis in Humans and Animals, 2006 (paraphrased)</a:t>
            </a:r>
            <a:endParaRPr lang="zh-CN" sz="1050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2" name="圆角矩形 151"/>
          <p:cNvSpPr/>
          <p:nvPr/>
        </p:nvSpPr>
        <p:spPr>
          <a:xfrm>
            <a:off x="3657600" y="5410200"/>
            <a:ext cx="8153400" cy="685800"/>
          </a:xfrm>
          <a:prstGeom prst="roundRect">
            <a:avLst>
              <a:gd name="adj" fmla="val 11111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3829050" y="5524500"/>
            <a:ext cx="78105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Significance: closing this gap protects pastoral livelihoods and offers a model other zoonoses can copy.</a:t>
            </a:r>
            <a:endParaRPr lang="zh-CN" sz="15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4" name="任意多边形 153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p/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381000" y="6600825"/>
            <a:ext cx="2390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 panose="020B0503020204020204" charset="-122"/>
                <a:ea typeface="Microsoft YaHei" panose="020B0503020204020204" charset="-122"/>
              </a:rPr>
              <a:t>One Health in Action · 2026 FLTRP·ETIC Cup</a:t>
            </a:r>
            <a:endParaRPr lang="en-US" sz="900">
              <a:solidFill>
                <a:srgbClr val="8B97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11372850" y="6600825"/>
            <a:ext cx="438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02 / 12</a:t>
            </a:r>
            <a:endParaRPr lang="en-US" sz="97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1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59" name="矩形 158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381000" y="161925"/>
            <a:ext cx="5962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9FB9E4"/>
                </a:solidFill>
                <a:latin typeface="Microsoft YaHei" panose="020B0503020204020204" charset="-122"/>
                <a:ea typeface="Microsoft YaHei" panose="020B0503020204020204" charset="-122"/>
              </a:rPr>
              <a:t>PART 1 · IDENTIFYING THE PROBLEM</a:t>
            </a:r>
            <a:endParaRPr lang="en-US" sz="975" spc="150">
              <a:solidFill>
                <a:srgbClr val="9FB9E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381000" y="352425"/>
            <a:ext cx="596265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The Problem: A Neglected Global Zoonosis</a:t>
            </a:r>
            <a:endParaRPr lang="en-US" sz="217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11239500" y="142875"/>
            <a:ext cx="5715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>
                    <a:alpha val="18000"/>
                  </a:srgbClr>
                </a:solidFill>
                <a:latin typeface="Microsoft YaHei" panose="020B0503020204020204" charset="-122"/>
                <a:ea typeface="Microsoft YaHei" panose="020B0503020204020204" charset="-122"/>
              </a:rPr>
              <a:t>03</a:t>
            </a:r>
            <a:endParaRPr lang="en-US" sz="3600" b="1">
              <a:solidFill>
                <a:srgbClr val="FFFFFF">
                  <a:alpha val="18000"/>
                </a:srgb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3" name="圆角矩形 162"/>
          <p:cNvSpPr/>
          <p:nvPr/>
        </p:nvSpPr>
        <p:spPr>
          <a:xfrm>
            <a:off x="381000" y="1028700"/>
            <a:ext cx="11430000" cy="419100"/>
          </a:xfrm>
          <a:prstGeom prst="roundRect">
            <a:avLst>
              <a:gd name="adj" fmla="val 18182"/>
            </a:avLst>
          </a:prstGeom>
          <a:solidFill>
            <a:srgbClr val="F0F5FC"/>
          </a:solidFill>
        </p:spPr>
        <p:txBody>
          <a:bodyPr/>
          <a:p/>
        </p:txBody>
      </p:sp>
      <p:pic>
        <p:nvPicPr>
          <p:cNvPr id="164" name="图片 16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50" y="1143000"/>
            <a:ext cx="190500" cy="190500"/>
          </a:xfrm>
          <a:prstGeom prst="rect">
            <a:avLst/>
          </a:prstGeom>
        </p:spPr>
      </p:pic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838200" y="1123950"/>
            <a:ext cx="72961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How severe is the global brucellosis burden — and is it really under control?</a:t>
            </a:r>
            <a:endParaRPr lang="en-US" sz="15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aphicFrame>
        <p:nvGraphicFramePr>
          <p:cNvPr id="166" name="152"/>
          <p:cNvGraphicFramePr/>
          <p:nvPr/>
        </p:nvGraphicFramePr>
        <p:xfrm>
          <a:off x="381000" y="1562100"/>
          <a:ext cx="6953250" cy="3543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381000" y="5162550"/>
            <a:ext cx="6953250" cy="304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 panose="020B0503020204020204" charset="-122"/>
                <a:ea typeface="Microsoft YaHei" panose="020B0503020204020204" charset="-122"/>
              </a:rPr>
              <a:t>Sources: official surveillance reports — China notifiable cases 2020–2024; EU/EEA confirmed cases 273 (2024).</a:t>
            </a:r>
            <a:endParaRPr lang="zh-CN" sz="975">
              <a:solidFill>
                <a:srgbClr val="8B97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8" name="圆角矩形 167"/>
          <p:cNvSpPr/>
          <p:nvPr/>
        </p:nvSpPr>
        <p:spPr>
          <a:xfrm>
            <a:off x="7562850" y="1562100"/>
            <a:ext cx="424815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7715250" y="1695450"/>
            <a:ext cx="39433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China stays high</a:t>
            </a:r>
            <a:endParaRPr lang="en-US" sz="165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7715250" y="1990725"/>
            <a:ext cx="3943350" cy="733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65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Five years at 47.4k–70.4k; 62.1k in 2024, no decline.</a:t>
            </a:r>
            <a:endParaRPr lang="en-US" sz="1650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1" name="圆角矩形 170"/>
          <p:cNvSpPr/>
          <p:nvPr/>
        </p:nvSpPr>
        <p:spPr>
          <a:xfrm>
            <a:off x="7562850" y="2971800"/>
            <a:ext cx="424815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7715250" y="3105150"/>
            <a:ext cx="39433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EU and EEA rising</a:t>
            </a:r>
            <a:endParaRPr lang="en-US" sz="165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7715250" y="3400425"/>
            <a:ext cx="3943350" cy="733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65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Confirmed cases climbed yearly, reaching 273 in 2024.</a:t>
            </a:r>
            <a:endParaRPr lang="en-US" sz="1650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4" name="圆角矩形 173"/>
          <p:cNvSpPr/>
          <p:nvPr/>
        </p:nvSpPr>
        <p:spPr>
          <a:xfrm>
            <a:off x="7562850" y="4381500"/>
            <a:ext cx="424815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7715250" y="4514850"/>
            <a:ext cx="39433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D9534F"/>
                </a:solidFill>
                <a:latin typeface="Microsoft YaHei" panose="020B0503020204020204" charset="-122"/>
                <a:ea typeface="Microsoft YaHei" panose="020B0503020204020204" charset="-122"/>
              </a:rPr>
              <a:t>So what?</a:t>
            </a:r>
            <a:endParaRPr lang="en-US" sz="1650" b="1">
              <a:solidFill>
                <a:srgbClr val="D9534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7715250" y="4810125"/>
            <a:ext cx="3943350" cy="733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65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The burden is not receding; control lags behind.</a:t>
            </a:r>
            <a:endParaRPr lang="en-US" sz="1650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7" name="圆角矩形 176"/>
          <p:cNvSpPr/>
          <p:nvPr/>
        </p:nvSpPr>
        <p:spPr>
          <a:xfrm>
            <a:off x="381000" y="5829300"/>
            <a:ext cx="11430000" cy="457200"/>
          </a:xfrm>
          <a:prstGeom prst="roundRect">
            <a:avLst>
              <a:gd name="adj" fmla="val 16667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552450" y="5943600"/>
            <a:ext cx="11087100" cy="2286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A persistent, high-level global burden — prevention and control clearly lag behind.</a:t>
            </a:r>
            <a:endParaRPr lang="en-US" sz="15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9" name="任意多边形 178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p/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381000" y="6600825"/>
            <a:ext cx="2390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 panose="020B0503020204020204" charset="-122"/>
                <a:ea typeface="Microsoft YaHei" panose="020B0503020204020204" charset="-122"/>
              </a:rPr>
              <a:t>One Health in Action · 2026 FLTRP·ETIC Cup</a:t>
            </a:r>
            <a:endParaRPr lang="en-US" sz="900">
              <a:solidFill>
                <a:srgbClr val="8B97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1372850" y="6600825"/>
            <a:ext cx="438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03 / 12</a:t>
            </a:r>
            <a:endParaRPr lang="en-US" sz="97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矩形 1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84" name="矩形 183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381000" y="161925"/>
            <a:ext cx="28098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9FB9E4"/>
                </a:solidFill>
                <a:latin typeface="Microsoft YaHei" panose="020B0503020204020204" charset="-122"/>
                <a:ea typeface="Microsoft YaHei" panose="020B0503020204020204" charset="-122"/>
              </a:rPr>
              <a:t>PART 1 · IDENTIFYING THE PROBLEM</a:t>
            </a:r>
            <a:endParaRPr lang="en-US" sz="975" spc="150">
              <a:solidFill>
                <a:srgbClr val="9FB9E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381000" y="352425"/>
            <a:ext cx="28098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Problems to Solve</a:t>
            </a:r>
            <a:endParaRPr lang="en-US" sz="217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11239500" y="142875"/>
            <a:ext cx="5715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>
                    <a:alpha val="18000"/>
                  </a:srgbClr>
                </a:solidFill>
                <a:latin typeface="Microsoft YaHei" panose="020B0503020204020204" charset="-122"/>
                <a:ea typeface="Microsoft YaHei" panose="020B0503020204020204" charset="-122"/>
              </a:rPr>
              <a:t>04</a:t>
            </a:r>
            <a:endParaRPr lang="en-US" sz="3600" b="1">
              <a:solidFill>
                <a:srgbClr val="FFFFFF">
                  <a:alpha val="18000"/>
                </a:srgb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8" name="圆角矩形 187"/>
          <p:cNvSpPr/>
          <p:nvPr/>
        </p:nvSpPr>
        <p:spPr>
          <a:xfrm>
            <a:off x="419100" y="1276350"/>
            <a:ext cx="666750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189" name="任意多边形 188"/>
          <p:cNvSpPr/>
          <p:nvPr/>
        </p:nvSpPr>
        <p:spPr>
          <a:xfrm>
            <a:off x="419100" y="1276350"/>
            <a:ext cx="6667500" cy="1323975"/>
          </a:xfrm>
          <a:custGeom>
            <a:avLst/>
            <a:gdLst/>
            <a:ahLst/>
            <a:cxnLst/>
            <a:pathLst>
              <a:path w="700" h="13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35"/>
                </a:lnTo>
                <a:cubicBezTo>
                  <a:pt x="4" y="137"/>
                  <a:pt x="5" y="139"/>
                  <a:pt x="7" y="139"/>
                </a:cubicBezTo>
                <a:cubicBezTo>
                  <a:pt x="3" y="139"/>
                  <a:pt x="0" y="135"/>
                  <a:pt x="0" y="13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90" name="圆角矩形 189"/>
          <p:cNvSpPr/>
          <p:nvPr/>
        </p:nvSpPr>
        <p:spPr>
          <a:xfrm>
            <a:off x="590550" y="17335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695325" y="1838325"/>
            <a:ext cx="219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P1</a:t>
            </a:r>
            <a:endParaRPr lang="en-US" sz="13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1162050" y="1428750"/>
            <a:ext cx="5715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Governance Fragmentation</a:t>
            </a:r>
            <a:endParaRPr lang="en-US" sz="18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1162050" y="1743075"/>
            <a:ext cx="571500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65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Animal, human and environmental data sit in separate silos, with no routine digital link.</a:t>
            </a:r>
            <a:endParaRPr lang="en-US" sz="1650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94" name="图片 19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9025" y="2714625"/>
            <a:ext cx="171450" cy="171450"/>
          </a:xfrm>
          <a:prstGeom prst="rect">
            <a:avLst/>
          </a:prstGeom>
        </p:spPr>
      </p:pic>
      <p:sp>
        <p:nvSpPr>
          <p:cNvPr id="195" name="圆角矩形 194"/>
          <p:cNvSpPr/>
          <p:nvPr/>
        </p:nvSpPr>
        <p:spPr>
          <a:xfrm>
            <a:off x="419100" y="3000375"/>
            <a:ext cx="666750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196" name="任意多边形 195"/>
          <p:cNvSpPr/>
          <p:nvPr/>
        </p:nvSpPr>
        <p:spPr>
          <a:xfrm>
            <a:off x="419100" y="3000375"/>
            <a:ext cx="6667500" cy="1323975"/>
          </a:xfrm>
          <a:custGeom>
            <a:avLst/>
            <a:gdLst/>
            <a:ahLst/>
            <a:cxnLst/>
            <a:pathLst>
              <a:path w="700" h="13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35"/>
                </a:lnTo>
                <a:cubicBezTo>
                  <a:pt x="4" y="137"/>
                  <a:pt x="5" y="139"/>
                  <a:pt x="7" y="139"/>
                </a:cubicBezTo>
                <a:cubicBezTo>
                  <a:pt x="3" y="139"/>
                  <a:pt x="0" y="135"/>
                  <a:pt x="0" y="13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97" name="圆角矩形 196"/>
          <p:cNvSpPr/>
          <p:nvPr/>
        </p:nvSpPr>
        <p:spPr>
          <a:xfrm>
            <a:off x="590550" y="34575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695325" y="3562350"/>
            <a:ext cx="219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P2</a:t>
            </a:r>
            <a:endParaRPr lang="en-US" sz="13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1162050" y="3152775"/>
            <a:ext cx="5715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Weak Grassroots Surveillance</a:t>
            </a:r>
            <a:endParaRPr lang="en-US" sz="18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1162050" y="3467100"/>
            <a:ext cx="571500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65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Manual patrols and quarterly quarantine leave long lags; latent infections go unseen.</a:t>
            </a:r>
            <a:endParaRPr lang="en-US" sz="1650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201" name="图片 20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9025" y="4438650"/>
            <a:ext cx="171450" cy="171450"/>
          </a:xfrm>
          <a:prstGeom prst="rect">
            <a:avLst/>
          </a:prstGeom>
        </p:spPr>
      </p:pic>
      <p:sp>
        <p:nvSpPr>
          <p:cNvPr id="202" name="圆角矩形 201"/>
          <p:cNvSpPr/>
          <p:nvPr/>
        </p:nvSpPr>
        <p:spPr>
          <a:xfrm>
            <a:off x="419100" y="4724400"/>
            <a:ext cx="666750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203" name="任意多边形 202"/>
          <p:cNvSpPr/>
          <p:nvPr/>
        </p:nvSpPr>
        <p:spPr>
          <a:xfrm>
            <a:off x="419100" y="4724400"/>
            <a:ext cx="6667500" cy="1323975"/>
          </a:xfrm>
          <a:custGeom>
            <a:avLst/>
            <a:gdLst/>
            <a:ahLst/>
            <a:cxnLst/>
            <a:pathLst>
              <a:path w="700" h="13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35"/>
                </a:lnTo>
                <a:cubicBezTo>
                  <a:pt x="4" y="137"/>
                  <a:pt x="5" y="139"/>
                  <a:pt x="7" y="139"/>
                </a:cubicBezTo>
                <a:cubicBezTo>
                  <a:pt x="3" y="139"/>
                  <a:pt x="0" y="135"/>
                  <a:pt x="0" y="13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04" name="圆角矩形 203"/>
          <p:cNvSpPr/>
          <p:nvPr/>
        </p:nvSpPr>
        <p:spPr>
          <a:xfrm>
            <a:off x="590550" y="5181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695325" y="5286375"/>
            <a:ext cx="219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P3</a:t>
            </a:r>
            <a:endParaRPr lang="en-US" sz="13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1162050" y="4876800"/>
            <a:ext cx="5715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Unaffordable Technology</a:t>
            </a:r>
            <a:endParaRPr lang="en-US" sz="18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1162050" y="5191125"/>
            <a:ext cx="571500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65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High-cost, lab-based systems cannot scale to low-resource, livestock-based regions.</a:t>
            </a:r>
            <a:endParaRPr lang="en-US" sz="1650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8" name="圆角矩形 207"/>
          <p:cNvSpPr/>
          <p:nvPr/>
        </p:nvSpPr>
        <p:spPr>
          <a:xfrm>
            <a:off x="7277100" y="1066800"/>
            <a:ext cx="4533900" cy="5181600"/>
          </a:xfrm>
          <a:prstGeom prst="roundRect">
            <a:avLst>
              <a:gd name="adj" fmla="val 2101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7543800" y="1333500"/>
            <a:ext cx="4000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FB9E4"/>
                </a:solidFill>
                <a:latin typeface="Microsoft YaHei" panose="020B0503020204020204" charset="-122"/>
                <a:ea typeface="Microsoft YaHei" panose="020B0503020204020204" charset="-122"/>
              </a:rPr>
              <a:t>CORE RESEARCH QUESTION</a:t>
            </a:r>
            <a:endParaRPr lang="en-US" sz="1050" spc="150">
              <a:solidFill>
                <a:srgbClr val="9FB9E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0" name="矩形 209"/>
          <p:cNvSpPr/>
          <p:nvPr/>
        </p:nvSpPr>
        <p:spPr>
          <a:xfrm>
            <a:off x="7543800" y="1628775"/>
            <a:ext cx="53340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7543800" y="1790700"/>
            <a:ext cx="4000500" cy="1857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21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How can low-resource regions achieve early, accurate and affordable early warning?</a:t>
            </a:r>
            <a:endParaRPr lang="en-US" sz="21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7543800" y="5705475"/>
            <a:ext cx="40005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BCD0EE"/>
                </a:solidFill>
                <a:latin typeface="Microsoft YaHei" panose="020B0503020204020204" charset="-122"/>
                <a:ea typeface="Microsoft YaHei" panose="020B0503020204020204" charset="-122"/>
              </a:rPr>
              <a:t>The single question this project sets out to answer.</a:t>
            </a:r>
            <a:endParaRPr lang="en-US" sz="1200">
              <a:solidFill>
                <a:srgbClr val="BCD0E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3" name="任意多边形 212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381000" y="6600825"/>
            <a:ext cx="2390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 panose="020B0503020204020204" charset="-122"/>
                <a:ea typeface="Microsoft YaHei" panose="020B0503020204020204" charset="-122"/>
              </a:rPr>
              <a:t>One Health in Action · 2026 FLTRP·ETIC Cup</a:t>
            </a:r>
            <a:endParaRPr lang="en-US" sz="900">
              <a:solidFill>
                <a:srgbClr val="8B97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11372850" y="6600825"/>
            <a:ext cx="438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04 / 12</a:t>
            </a:r>
            <a:endParaRPr lang="en-US" sz="97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矩形 2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18" name="矩形 217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381000" y="161925"/>
            <a:ext cx="5124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9FB9E4"/>
                </a:solidFill>
                <a:latin typeface="Microsoft YaHei" panose="020B0503020204020204" charset="-122"/>
                <a:ea typeface="Microsoft YaHei" panose="020B0503020204020204" charset="-122"/>
              </a:rPr>
              <a:t>PART 2 · ANALYZING THE PROBLEM</a:t>
            </a:r>
            <a:endParaRPr lang="en-US" sz="975" spc="150">
              <a:solidFill>
                <a:srgbClr val="9FB9E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381000" y="352425"/>
            <a:ext cx="512445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Research Design: Methods and Steps</a:t>
            </a:r>
            <a:endParaRPr lang="en-US" sz="217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11239500" y="142875"/>
            <a:ext cx="5715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>
                    <a:alpha val="18000"/>
                  </a:srgbClr>
                </a:solidFill>
                <a:latin typeface="Microsoft YaHei" panose="020B0503020204020204" charset="-122"/>
                <a:ea typeface="Microsoft YaHei" panose="020B0503020204020204" charset="-122"/>
              </a:rPr>
              <a:t>05</a:t>
            </a:r>
            <a:endParaRPr lang="en-US" sz="3600" b="1">
              <a:solidFill>
                <a:srgbClr val="FFFFFF">
                  <a:alpha val="18000"/>
                </a:srgb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381000" y="1047750"/>
            <a:ext cx="1143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STEPS</a:t>
            </a:r>
            <a:endParaRPr lang="en-US" sz="1050" b="1" spc="150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381000" y="1343025"/>
            <a:ext cx="2590800" cy="638175"/>
          </a:xfrm>
          <a:prstGeom prst="roundRect">
            <a:avLst>
              <a:gd name="adj" fmla="val 1491045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4" name="圆角矩形 223"/>
          <p:cNvSpPr/>
          <p:nvPr/>
        </p:nvSpPr>
        <p:spPr>
          <a:xfrm>
            <a:off x="514350" y="15240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609600" y="1581150"/>
            <a:ext cx="95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endParaRPr lang="en-US" sz="112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895350" y="1438275"/>
            <a:ext cx="1943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1125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Define the transmission chain and data gaps</a:t>
            </a:r>
            <a:endParaRPr lang="en-US" sz="1125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227" name="图片 22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67050" y="1581150"/>
            <a:ext cx="171450" cy="171450"/>
          </a:xfrm>
          <a:prstGeom prst="rect">
            <a:avLst/>
          </a:prstGeom>
        </p:spPr>
      </p:pic>
      <p:sp>
        <p:nvSpPr>
          <p:cNvPr id="228" name="圆角矩形 227"/>
          <p:cNvSpPr/>
          <p:nvPr/>
        </p:nvSpPr>
        <p:spPr>
          <a:xfrm>
            <a:off x="3333750" y="1343025"/>
            <a:ext cx="2581275" cy="638175"/>
          </a:xfrm>
          <a:prstGeom prst="roundRect">
            <a:avLst>
              <a:gd name="adj" fmla="val 1491045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9" name="圆角矩形 228"/>
          <p:cNvSpPr/>
          <p:nvPr/>
        </p:nvSpPr>
        <p:spPr>
          <a:xfrm>
            <a:off x="3467100" y="15240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3562350" y="1581150"/>
            <a:ext cx="95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endParaRPr lang="en-US" sz="112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3848100" y="1438275"/>
            <a:ext cx="1933575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1125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Collect and clean multi-source data, 2020–2024</a:t>
            </a:r>
            <a:endParaRPr lang="en-US" sz="1125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232" name="图片 23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10275" y="1581150"/>
            <a:ext cx="171450" cy="171450"/>
          </a:xfrm>
          <a:prstGeom prst="rect">
            <a:avLst/>
          </a:prstGeom>
        </p:spPr>
      </p:pic>
      <p:sp>
        <p:nvSpPr>
          <p:cNvPr id="233" name="圆角矩形 232"/>
          <p:cNvSpPr/>
          <p:nvPr/>
        </p:nvSpPr>
        <p:spPr>
          <a:xfrm>
            <a:off x="6276975" y="1343025"/>
            <a:ext cx="2590800" cy="638175"/>
          </a:xfrm>
          <a:prstGeom prst="roundRect">
            <a:avLst>
              <a:gd name="adj" fmla="val 1491045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4" name="圆角矩形 233"/>
          <p:cNvSpPr/>
          <p:nvPr/>
        </p:nvSpPr>
        <p:spPr>
          <a:xfrm>
            <a:off x="6410325" y="15240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6505575" y="1581150"/>
            <a:ext cx="95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endParaRPr lang="en-US" sz="112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6791325" y="1438275"/>
            <a:ext cx="1943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1125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Map current control bottlenecks</a:t>
            </a:r>
            <a:endParaRPr lang="en-US" sz="1125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237" name="图片 23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63025" y="1581150"/>
            <a:ext cx="171450" cy="171450"/>
          </a:xfrm>
          <a:prstGeom prst="rect">
            <a:avLst/>
          </a:prstGeom>
        </p:spPr>
      </p:pic>
      <p:sp>
        <p:nvSpPr>
          <p:cNvPr id="238" name="圆角矩形 237"/>
          <p:cNvSpPr/>
          <p:nvPr/>
        </p:nvSpPr>
        <p:spPr>
          <a:xfrm>
            <a:off x="9229725" y="1343025"/>
            <a:ext cx="2581275" cy="638175"/>
          </a:xfrm>
          <a:prstGeom prst="roundRect">
            <a:avLst>
              <a:gd name="adj" fmla="val 1491045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9" name="圆角矩形 238"/>
          <p:cNvSpPr/>
          <p:nvPr/>
        </p:nvSpPr>
        <p:spPr>
          <a:xfrm>
            <a:off x="9363075" y="15240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9458325" y="1581150"/>
            <a:ext cx="95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endParaRPr lang="en-US" sz="112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9744075" y="1438275"/>
            <a:ext cx="1933575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1125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Derive root causes and design the solution</a:t>
            </a:r>
            <a:endParaRPr lang="en-US" sz="1125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381000" y="2171700"/>
            <a:ext cx="1143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METHODS</a:t>
            </a:r>
            <a:endParaRPr lang="en-US" sz="1050" b="1" spc="150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381000" y="2466975"/>
            <a:ext cx="3705225" cy="3209925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4" name="圆角矩形 243"/>
          <p:cNvSpPr/>
          <p:nvPr/>
        </p:nvSpPr>
        <p:spPr>
          <a:xfrm>
            <a:off x="533400" y="26193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0F5FC"/>
          </a:solidFill>
        </p:spPr>
        <p:txBody>
          <a:bodyPr/>
          <a:p/>
        </p:txBody>
      </p:sp>
      <p:pic>
        <p:nvPicPr>
          <p:cNvPr id="245" name="图片 24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" y="2714625"/>
            <a:ext cx="190500" cy="190500"/>
          </a:xfrm>
          <a:prstGeom prst="rect">
            <a:avLst/>
          </a:prstGeom>
        </p:spPr>
      </p:pic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533400" y="3076575"/>
            <a:ext cx="34004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Literature Review</a:t>
            </a:r>
            <a:endParaRPr lang="en-US" sz="18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533400" y="3429000"/>
            <a:ext cx="3400425" cy="1790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65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One Health governance, brucellosis surveillance and AI early-warning studies.</a:t>
            </a:r>
            <a:endParaRPr lang="en-US" sz="1650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8" name="圆角矩形 247"/>
          <p:cNvSpPr/>
          <p:nvPr/>
        </p:nvSpPr>
        <p:spPr>
          <a:xfrm>
            <a:off x="533400" y="5295900"/>
            <a:ext cx="1066800" cy="228600"/>
          </a:xfrm>
          <a:prstGeom prst="roundRect">
            <a:avLst>
              <a:gd name="adj" fmla="val 416250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647700" y="5334000"/>
            <a:ext cx="838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Evidence base</a:t>
            </a:r>
            <a:endParaRPr lang="en-US" sz="975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50" name="圆角矩形 249"/>
          <p:cNvSpPr/>
          <p:nvPr/>
        </p:nvSpPr>
        <p:spPr>
          <a:xfrm>
            <a:off x="4238625" y="2466975"/>
            <a:ext cx="3714750" cy="3209925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1" name="圆角矩形 250"/>
          <p:cNvSpPr/>
          <p:nvPr/>
        </p:nvSpPr>
        <p:spPr>
          <a:xfrm>
            <a:off x="4391025" y="26193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0F5FC"/>
          </a:solidFill>
        </p:spPr>
        <p:txBody>
          <a:bodyPr/>
          <a:p/>
        </p:txBody>
      </p:sp>
      <p:pic>
        <p:nvPicPr>
          <p:cNvPr id="252" name="图片 25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6275" y="2714625"/>
            <a:ext cx="190500" cy="190500"/>
          </a:xfrm>
          <a:prstGeom prst="rect">
            <a:avLst/>
          </a:prstGeom>
        </p:spPr>
      </p:pic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4391025" y="3076575"/>
            <a:ext cx="34099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Multi-Source Data Analysis</a:t>
            </a:r>
            <a:endParaRPr lang="en-US" sz="18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4391025" y="3429000"/>
            <a:ext cx="3409950" cy="1790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65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Animal quarantine, livestock density, environment and human case data.</a:t>
            </a:r>
            <a:endParaRPr lang="en-US" sz="1650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55" name="圆角矩形 254"/>
          <p:cNvSpPr/>
          <p:nvPr/>
        </p:nvSpPr>
        <p:spPr>
          <a:xfrm>
            <a:off x="4391025" y="5295900"/>
            <a:ext cx="1200150" cy="228600"/>
          </a:xfrm>
          <a:prstGeom prst="roundRect">
            <a:avLst>
              <a:gd name="adj" fmla="val 416250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4505325" y="5334000"/>
            <a:ext cx="971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Data foundation</a:t>
            </a:r>
            <a:endParaRPr lang="en-US" sz="975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57" name="圆角矩形 256"/>
          <p:cNvSpPr/>
          <p:nvPr/>
        </p:nvSpPr>
        <p:spPr>
          <a:xfrm>
            <a:off x="8105775" y="2466975"/>
            <a:ext cx="3705225" cy="3209925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8" name="圆角矩形 257"/>
          <p:cNvSpPr/>
          <p:nvPr/>
        </p:nvSpPr>
        <p:spPr>
          <a:xfrm>
            <a:off x="8258175" y="26193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0F5FC"/>
          </a:solidFill>
        </p:spPr>
        <p:txBody>
          <a:bodyPr/>
          <a:p/>
        </p:txBody>
      </p:sp>
      <p:pic>
        <p:nvPicPr>
          <p:cNvPr id="259" name="图片 25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53425" y="2714625"/>
            <a:ext cx="190500" cy="190500"/>
          </a:xfrm>
          <a:prstGeom prst="rect">
            <a:avLst/>
          </a:prstGeom>
        </p:spPr>
      </p:pic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8258175" y="3076575"/>
            <a:ext cx="34004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Case Study</a:t>
            </a:r>
            <a:endParaRPr lang="en-US" sz="18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8258175" y="3429000"/>
            <a:ext cx="3400425" cy="1790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65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Grassroots counties and pastoral areas: workflow, staffing, capacity.</a:t>
            </a:r>
            <a:endParaRPr lang="en-US" sz="1650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62" name="圆角矩形 261"/>
          <p:cNvSpPr/>
          <p:nvPr/>
        </p:nvSpPr>
        <p:spPr>
          <a:xfrm>
            <a:off x="8258175" y="5295900"/>
            <a:ext cx="1171575" cy="228600"/>
          </a:xfrm>
          <a:prstGeom prst="roundRect">
            <a:avLst>
              <a:gd name="adj" fmla="val 416250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8372475" y="5334000"/>
            <a:ext cx="942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Field grounding</a:t>
            </a:r>
            <a:endParaRPr lang="en-US" sz="975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64" name="圆角矩形 263"/>
          <p:cNvSpPr/>
          <p:nvPr/>
        </p:nvSpPr>
        <p:spPr>
          <a:xfrm>
            <a:off x="381000" y="5810250"/>
            <a:ext cx="11430000" cy="457200"/>
          </a:xfrm>
          <a:prstGeom prst="roundRect">
            <a:avLst>
              <a:gd name="adj" fmla="val 16667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552450" y="5924550"/>
            <a:ext cx="11087100" cy="2286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Evidence-driven: every conclusion in this study traces back to these three sources.</a:t>
            </a:r>
            <a:endParaRPr lang="en-US" sz="15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66" name="任意多边形 265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p/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381000" y="6600825"/>
            <a:ext cx="2390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 panose="020B0503020204020204" charset="-122"/>
                <a:ea typeface="Microsoft YaHei" panose="020B0503020204020204" charset="-122"/>
              </a:rPr>
              <a:t>One Health in Action · 2026 FLTRP·ETIC Cup</a:t>
            </a:r>
            <a:endParaRPr lang="en-US" sz="900">
              <a:solidFill>
                <a:srgbClr val="8B97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11372850" y="6600825"/>
            <a:ext cx="438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05 / 12</a:t>
            </a:r>
            <a:endParaRPr lang="en-US" sz="97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71" name="矩形 270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381000" y="161925"/>
            <a:ext cx="4419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9FB9E4"/>
                </a:solidFill>
                <a:latin typeface="Microsoft YaHei" panose="020B0503020204020204" charset="-122"/>
                <a:ea typeface="Microsoft YaHei" panose="020B0503020204020204" charset="-122"/>
              </a:rPr>
              <a:t>PART 2 · ANALYZING THE PROBLEM</a:t>
            </a:r>
            <a:endParaRPr lang="en-US" sz="975" spc="150">
              <a:solidFill>
                <a:srgbClr val="9FB9E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381000" y="352425"/>
            <a:ext cx="4419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Major Findings from the Survey</a:t>
            </a:r>
            <a:endParaRPr lang="en-US" sz="217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11239500" y="142875"/>
            <a:ext cx="5715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>
                    <a:alpha val="18000"/>
                  </a:srgbClr>
                </a:solidFill>
                <a:latin typeface="Microsoft YaHei" panose="020B0503020204020204" charset="-122"/>
                <a:ea typeface="Microsoft YaHei" panose="020B0503020204020204" charset="-122"/>
              </a:rPr>
              <a:t>06</a:t>
            </a:r>
            <a:endParaRPr lang="en-US" sz="3600" b="1">
              <a:solidFill>
                <a:srgbClr val="FFFFFF">
                  <a:alpha val="18000"/>
                </a:srgb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75" name="圆角矩形 274"/>
          <p:cNvSpPr/>
          <p:nvPr/>
        </p:nvSpPr>
        <p:spPr>
          <a:xfrm>
            <a:off x="381000" y="16573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485775" y="1752600"/>
            <a:ext cx="180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F1</a:t>
            </a:r>
            <a:endParaRPr lang="en-US" sz="12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895350" y="1657350"/>
            <a:ext cx="55816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65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Control lags at the clinic</a:t>
            </a:r>
            <a:r>
              <a:rPr lang="en-US" sz="1650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 — early symptoms mimic flu; misdiagnosis and under-reporting are common.</a:t>
            </a:r>
            <a:endParaRPr lang="en-US" sz="1650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78" name="圆角矩形 277"/>
          <p:cNvSpPr/>
          <p:nvPr/>
        </p:nvSpPr>
        <p:spPr>
          <a:xfrm>
            <a:off x="381000" y="24765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485775" y="2571750"/>
            <a:ext cx="180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F2</a:t>
            </a:r>
            <a:endParaRPr lang="en-US" sz="12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895350" y="2476500"/>
            <a:ext cx="55816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Sectoral data never meet</a:t>
            </a:r>
            <a:r>
              <a:rPr lang="zh-CN" sz="1650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 — no shared platform links animal and human records at county level.</a:t>
            </a:r>
            <a:endParaRPr lang="zh-CN" sz="1650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1" name="圆角矩形 280"/>
          <p:cNvSpPr/>
          <p:nvPr/>
        </p:nvSpPr>
        <p:spPr>
          <a:xfrm>
            <a:off x="381000" y="32956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485775" y="3390900"/>
            <a:ext cx="180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F3</a:t>
            </a:r>
            <a:endParaRPr lang="en-US" sz="12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895350" y="3295650"/>
            <a:ext cx="55816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Detection trails infection</a:t>
            </a:r>
            <a:r>
              <a:rPr lang="zh-CN" sz="1650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 — reporting still follows clinic visits, not early risk signals.</a:t>
            </a:r>
            <a:endParaRPr lang="zh-CN" sz="1650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4" name="圆角矩形 283"/>
          <p:cNvSpPr/>
          <p:nvPr/>
        </p:nvSpPr>
        <p:spPr>
          <a:xfrm>
            <a:off x="381000" y="41148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485775" y="4210050"/>
            <a:ext cx="180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F4</a:t>
            </a:r>
            <a:endParaRPr lang="en-US" sz="12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895350" y="4114800"/>
            <a:ext cx="55816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Cost is the binding constraint</a:t>
            </a:r>
            <a:r>
              <a:rPr lang="zh-CN" sz="1650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 — the counties reviewed could not sustain lab-based screening.</a:t>
            </a:r>
            <a:endParaRPr lang="zh-CN" sz="1650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7" name="圆角矩形 286"/>
          <p:cNvSpPr/>
          <p:nvPr/>
        </p:nvSpPr>
        <p:spPr>
          <a:xfrm>
            <a:off x="381000" y="4972050"/>
            <a:ext cx="6096000" cy="685800"/>
          </a:xfrm>
          <a:prstGeom prst="roundRect">
            <a:avLst>
              <a:gd name="adj" fmla="val 11111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552450" y="5086350"/>
            <a:ext cx="57531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Together, these findings point to one missing piece: affordable early warning.</a:t>
            </a:r>
            <a:endParaRPr lang="en-US" sz="15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9" name="矩形 288"/>
          <p:cNvSpPr/>
          <p:nvPr/>
        </p:nvSpPr>
        <p:spPr>
          <a:xfrm>
            <a:off x="6705600" y="1628775"/>
            <a:ext cx="5105400" cy="28575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90" name="图片 289"/>
          <p:cNvPicPr>
            <a:picLocks noChangeAspect="1"/>
          </p:cNvPicPr>
          <p:nvPr/>
        </p:nvPicPr>
        <p:blipFill>
          <a:blip r:embed="rId1"/>
          <a:srcRect t="209" b="209"/>
          <a:stretch>
            <a:fillRect/>
          </a:stretch>
        </p:blipFill>
        <p:spPr>
          <a:xfrm>
            <a:off x="6705600" y="1628775"/>
            <a:ext cx="5105400" cy="2857500"/>
          </a:xfrm>
          <a:prstGeom prst="roundRect">
            <a:avLst>
              <a:gd name="adj" fmla="val 2667"/>
            </a:avLst>
          </a:prstGeom>
        </p:spPr>
      </p:pic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6705600" y="4581525"/>
            <a:ext cx="5105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 panose="020B0503020204020204" charset="-122"/>
                <a:ea typeface="Microsoft YaHei" panose="020B0503020204020204" charset="-122"/>
              </a:rPr>
              <a:t>Fig. The global access gap in brucellosis surveillance (entry document).</a:t>
            </a:r>
            <a:endParaRPr lang="en-US" sz="1050">
              <a:solidFill>
                <a:srgbClr val="8B97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92" name="圆角矩形 291"/>
          <p:cNvSpPr/>
          <p:nvPr/>
        </p:nvSpPr>
        <p:spPr>
          <a:xfrm>
            <a:off x="6743700" y="4838700"/>
            <a:ext cx="5105400" cy="847725"/>
          </a:xfrm>
          <a:prstGeom prst="roundRect">
            <a:avLst>
              <a:gd name="adj" fmla="val 6742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293" name="任意多边形 292"/>
          <p:cNvSpPr/>
          <p:nvPr/>
        </p:nvSpPr>
        <p:spPr>
          <a:xfrm>
            <a:off x="6743700" y="4838700"/>
            <a:ext cx="5105400" cy="847725"/>
          </a:xfrm>
          <a:custGeom>
            <a:avLst/>
            <a:gdLst/>
            <a:ahLst/>
            <a:cxnLst/>
            <a:pathLst>
              <a:path w="536" h="89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7"/>
                </a:lnTo>
                <a:cubicBezTo>
                  <a:pt x="4" y="88"/>
                  <a:pt x="5" y="89"/>
                  <a:pt x="6" y="89"/>
                </a:cubicBezTo>
                <a:cubicBezTo>
                  <a:pt x="3" y="89"/>
                  <a:pt x="0" y="86"/>
                  <a:pt x="0" y="83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6896100" y="4953000"/>
            <a:ext cx="47625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High-end technology is unaffordable, while basic surveillance is insufficient — a structural contradiction.</a:t>
            </a:r>
            <a:endParaRPr lang="en-US" sz="1350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95" name="任意多边形 294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p/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381000" y="6600825"/>
            <a:ext cx="2390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 panose="020B0503020204020204" charset="-122"/>
                <a:ea typeface="Microsoft YaHei" panose="020B0503020204020204" charset="-122"/>
              </a:rPr>
              <a:t>One Health in Action · 2026 FLTRP·ETIC Cup</a:t>
            </a:r>
            <a:endParaRPr lang="en-US" sz="900">
              <a:solidFill>
                <a:srgbClr val="8B97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1372850" y="6600825"/>
            <a:ext cx="438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06 / 12</a:t>
            </a:r>
            <a:endParaRPr lang="en-US" sz="97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矩形 2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00" name="矩形 299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381000" y="161925"/>
            <a:ext cx="2819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">
                <a:solidFill>
                  <a:srgbClr val="9FB9E4"/>
                </a:solidFill>
                <a:latin typeface="Microsoft YaHei" panose="020B0503020204020204" charset="-122"/>
                <a:ea typeface="Microsoft YaHei" panose="020B0503020204020204" charset="-122"/>
              </a:rPr>
              <a:t>PART 2 · ANALYZING THE PROBLEM</a:t>
            </a:r>
            <a:endParaRPr lang="zh-CN" sz="975" spc="2">
              <a:solidFill>
                <a:srgbClr val="9FB9E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381000" y="352425"/>
            <a:ext cx="28194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Root-Cause Analysis</a:t>
            </a:r>
            <a:endParaRPr lang="en-US" sz="217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11239500" y="142875"/>
            <a:ext cx="5715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>
                    <a:alpha val="18000"/>
                  </a:srgbClr>
                </a:solidFill>
                <a:latin typeface="Microsoft YaHei" panose="020B0503020204020204" charset="-122"/>
                <a:ea typeface="Microsoft YaHei" panose="020B0503020204020204" charset="-122"/>
              </a:rPr>
              <a:t>07</a:t>
            </a:r>
            <a:endParaRPr lang="en-US" sz="3600" b="1">
              <a:solidFill>
                <a:srgbClr val="FFFFFF">
                  <a:alpha val="18000"/>
                </a:srgb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3162300" y="1009650"/>
            <a:ext cx="58674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The transmission loop is intact — but the data loop is broken</a:t>
            </a:r>
            <a:endParaRPr lang="en-US" sz="15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305" name="图片 30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43250" y="1295400"/>
            <a:ext cx="5905500" cy="1428750"/>
          </a:xfrm>
          <a:prstGeom prst="rect">
            <a:avLst/>
          </a:prstGeom>
        </p:spPr>
      </p:pic>
      <p:sp>
        <p:nvSpPr>
          <p:cNvPr id="306" name="圆角矩形 305"/>
          <p:cNvSpPr/>
          <p:nvPr/>
        </p:nvSpPr>
        <p:spPr>
          <a:xfrm>
            <a:off x="381000" y="2857500"/>
            <a:ext cx="3724275" cy="188595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514350" y="2990850"/>
            <a:ext cx="34575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R1 · Fragmented Governance</a:t>
            </a:r>
            <a:endParaRPr lang="en-US" sz="1425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514350" y="3267075"/>
            <a:ext cx="34575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0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Mechanism: </a:t>
            </a:r>
            <a:r>
              <a:rPr lang="en-US" sz="120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animal, health and environment agencies each keep their own records.</a:t>
            </a:r>
            <a:endParaRPr lang="en-US" sz="1200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514350" y="3838575"/>
            <a:ext cx="3457575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0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Consequence: </a:t>
            </a:r>
            <a:r>
              <a:rPr lang="en-US" sz="120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no one sees the full transmission chain; risk is judged late and in pieces.</a:t>
            </a:r>
            <a:endParaRPr lang="en-US" sz="1200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0" name="圆角矩形 309"/>
          <p:cNvSpPr/>
          <p:nvPr/>
        </p:nvSpPr>
        <p:spPr>
          <a:xfrm>
            <a:off x="4238625" y="2857500"/>
            <a:ext cx="3714750" cy="188595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4371975" y="2990850"/>
            <a:ext cx="34480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R2 · Weak Grassroots Surveillance</a:t>
            </a:r>
            <a:endParaRPr lang="en-US" sz="1425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4371975" y="3267075"/>
            <a:ext cx="34480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0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Mechanism: </a:t>
            </a:r>
            <a:r>
              <a:rPr lang="en-US" sz="120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manual patrols and quarterly quarantine, with few trained staff.</a:t>
            </a:r>
            <a:endParaRPr lang="en-US" sz="1200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4371975" y="3838575"/>
            <a:ext cx="34480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0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Consequence: </a:t>
            </a:r>
            <a:r>
              <a:rPr lang="en-US" sz="120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latent infections accumulate unseen; response stays reactive.</a:t>
            </a:r>
            <a:endParaRPr lang="en-US" sz="1200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4" name="圆角矩形 313"/>
          <p:cNvSpPr/>
          <p:nvPr/>
        </p:nvSpPr>
        <p:spPr>
          <a:xfrm>
            <a:off x="8086725" y="2857500"/>
            <a:ext cx="3724275" cy="188595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5" name="文本框 314" descr="{&quot;isTemplate&quot;:true,&quot;type&quot;:&quot;text&quot;}"/>
          <p:cNvSpPr txBox="1"/>
          <p:nvPr/>
        </p:nvSpPr>
        <p:spPr>
          <a:xfrm>
            <a:off x="8220075" y="2990850"/>
            <a:ext cx="34575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R3 · High-Cost Tech Cannot Scale</a:t>
            </a:r>
            <a:endParaRPr lang="en-US" sz="1425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8220075" y="3267075"/>
            <a:ext cx="34575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0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Mechanism: </a:t>
            </a:r>
            <a:r>
              <a:rPr lang="en-US" sz="120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mainstream systems rely on labs, devices and long-term screening.</a:t>
            </a:r>
            <a:endParaRPr lang="en-US" sz="1200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8220075" y="3838575"/>
            <a:ext cx="34575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0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Consequence: </a:t>
            </a:r>
            <a:r>
              <a:rPr lang="en-US" sz="1200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unaffordable where livestock is the backbone of the economy.</a:t>
            </a:r>
            <a:endParaRPr lang="en-US" sz="1200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8" name="圆角矩形 317"/>
          <p:cNvSpPr/>
          <p:nvPr/>
        </p:nvSpPr>
        <p:spPr>
          <a:xfrm>
            <a:off x="381000" y="4876800"/>
            <a:ext cx="11430000" cy="390525"/>
          </a:xfrm>
          <a:prstGeom prst="roundRect">
            <a:avLst>
              <a:gd name="adj" fmla="val 19512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552450" y="4972050"/>
            <a:ext cx="7905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D9534F"/>
                </a:solidFill>
                <a:latin typeface="Microsoft YaHei" panose="020B0503020204020204" charset="-122"/>
                <a:ea typeface="Microsoft YaHei" panose="020B0503020204020204" charset="-122"/>
              </a:rPr>
              <a:t>Together:</a:t>
            </a:r>
            <a:endParaRPr lang="en-US" sz="1275" b="1">
              <a:solidFill>
                <a:srgbClr val="D9534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1438275" y="4972050"/>
            <a:ext cx="89820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the three causes compound each other — high-end systems are unaffordable, low-end control cannot hold the line.</a:t>
            </a:r>
            <a:endParaRPr lang="en-US" sz="1275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21" name="任意多边形 320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p/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381000" y="6600825"/>
            <a:ext cx="2390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 panose="020B0503020204020204" charset="-122"/>
                <a:ea typeface="Microsoft YaHei" panose="020B0503020204020204" charset="-122"/>
              </a:rPr>
              <a:t>One Health in Action · 2026 FLTRP·ETIC Cup</a:t>
            </a:r>
            <a:endParaRPr lang="en-US" sz="900">
              <a:solidFill>
                <a:srgbClr val="8B97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11372850" y="6600825"/>
            <a:ext cx="438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07 / 12</a:t>
            </a:r>
            <a:endParaRPr lang="en-US" sz="97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矩形 3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26" name="矩形 325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381000" y="161925"/>
            <a:ext cx="2628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9FB9E4"/>
                </a:solidFill>
                <a:latin typeface="Microsoft YaHei" panose="020B0503020204020204" charset="-122"/>
                <a:ea typeface="Microsoft YaHei" panose="020B0503020204020204" charset="-122"/>
              </a:rPr>
              <a:t>PART 3 · SOLVING THE PROBLEM</a:t>
            </a:r>
            <a:endParaRPr lang="en-US" sz="975" spc="150">
              <a:solidFill>
                <a:srgbClr val="9FB9E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381000" y="352425"/>
            <a:ext cx="26289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The China Solution</a:t>
            </a:r>
            <a:endParaRPr lang="en-US" sz="217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11239500" y="142875"/>
            <a:ext cx="5715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>
                    <a:alpha val="18000"/>
                  </a:srgbClr>
                </a:solidFill>
                <a:latin typeface="Microsoft YaHei" panose="020B0503020204020204" charset="-122"/>
                <a:ea typeface="Microsoft YaHei" panose="020B0503020204020204" charset="-122"/>
              </a:rPr>
              <a:t>08</a:t>
            </a:r>
            <a:endParaRPr lang="en-US" sz="3600" b="1">
              <a:solidFill>
                <a:srgbClr val="FFFFFF">
                  <a:alpha val="18000"/>
                </a:srgb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30" name="矩形 329"/>
          <p:cNvSpPr/>
          <p:nvPr/>
        </p:nvSpPr>
        <p:spPr>
          <a:xfrm>
            <a:off x="381000" y="1657350"/>
            <a:ext cx="6096000" cy="38100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31" name="图片 330"/>
          <p:cNvPicPr>
            <a:picLocks noChangeAspect="1"/>
          </p:cNvPicPr>
          <p:nvPr/>
        </p:nvPicPr>
        <p:blipFill>
          <a:blip r:embed="rId1"/>
          <a:srcRect t="23" b="23"/>
          <a:stretch>
            <a:fillRect/>
          </a:stretch>
        </p:blipFill>
        <p:spPr>
          <a:xfrm>
            <a:off x="381000" y="1657350"/>
            <a:ext cx="6096000" cy="3810000"/>
          </a:xfrm>
          <a:prstGeom prst="roundRect">
            <a:avLst>
              <a:gd name="adj" fmla="val 2000"/>
            </a:avLst>
          </a:prstGeom>
        </p:spPr>
      </p:pic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381000" y="5543550"/>
            <a:ext cx="6096000" cy="1524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 panose="020B0503020204020204" charset="-122"/>
                <a:ea typeface="Microsoft YaHei" panose="020B0503020204020204" charset="-122"/>
              </a:rPr>
              <a:t>Prototype platform: an AI risk-fusion engine linking four data sources</a:t>
            </a:r>
            <a:endParaRPr lang="en-US" sz="975">
              <a:solidFill>
                <a:srgbClr val="8B97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6705600" y="1866900"/>
            <a:ext cx="5105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AI + One Health + Low-Cost Digital Tools</a:t>
            </a:r>
            <a:endParaRPr lang="en-US" sz="1575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6705600" y="2209800"/>
            <a:ext cx="51054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75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Goal: a grassroots-adaptable, replicable, low-cost early-warning system that makes One Health coordination real.</a:t>
            </a:r>
            <a:endParaRPr lang="en-US" sz="1275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35" name="圆角矩形 334"/>
          <p:cNvSpPr/>
          <p:nvPr/>
        </p:nvSpPr>
        <p:spPr>
          <a:xfrm>
            <a:off x="6705600" y="28575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6791325" y="2905125"/>
            <a:ext cx="85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endParaRPr lang="en-US" sz="10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7048500" y="2857500"/>
            <a:ext cx="4762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75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Fusion of four multi-source data streams</a:t>
            </a:r>
            <a:endParaRPr lang="en-US" sz="1275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38" name="圆角矩形 337"/>
          <p:cNvSpPr/>
          <p:nvPr/>
        </p:nvSpPr>
        <p:spPr>
          <a:xfrm>
            <a:off x="6705600" y="32004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6791325" y="3248025"/>
            <a:ext cx="85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endParaRPr lang="en-US" sz="10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7048500" y="3200400"/>
            <a:ext cx="47625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275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Lightweight mini-program — no extra hardware at the grassroots</a:t>
            </a:r>
            <a:endParaRPr lang="en-US" sz="1275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41" name="圆角矩形 340"/>
          <p:cNvSpPr/>
          <p:nvPr/>
        </p:nvSpPr>
        <p:spPr>
          <a:xfrm>
            <a:off x="6705600" y="38100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6791325" y="3857625"/>
            <a:ext cx="85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endParaRPr lang="en-US" sz="10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7048500" y="3810000"/>
            <a:ext cx="47625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275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Closed loop: warning → verification → intervention → education</a:t>
            </a:r>
            <a:endParaRPr lang="en-US" sz="1275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44" name="圆角矩形 343"/>
          <p:cNvSpPr/>
          <p:nvPr/>
        </p:nvSpPr>
        <p:spPr>
          <a:xfrm>
            <a:off x="6705600" y="44196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6791325" y="4467225"/>
            <a:ext cx="85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endParaRPr lang="en-US" sz="10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7048500" y="4419600"/>
            <a:ext cx="4762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75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Grassroots-first deployment, not lab-first design</a:t>
            </a:r>
            <a:endParaRPr lang="en-US" sz="1275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47" name="圆角矩形 346"/>
          <p:cNvSpPr/>
          <p:nvPr/>
        </p:nvSpPr>
        <p:spPr>
          <a:xfrm>
            <a:off x="6743700" y="4781550"/>
            <a:ext cx="5105400" cy="704850"/>
          </a:xfrm>
          <a:prstGeom prst="roundRect">
            <a:avLst>
              <a:gd name="adj" fmla="val 8108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348" name="任意多边形 347"/>
          <p:cNvSpPr/>
          <p:nvPr/>
        </p:nvSpPr>
        <p:spPr>
          <a:xfrm>
            <a:off x="6743700" y="4781550"/>
            <a:ext cx="5105400" cy="704850"/>
          </a:xfrm>
          <a:custGeom>
            <a:avLst/>
            <a:gdLst/>
            <a:ahLst/>
            <a:cxnLst/>
            <a:pathLst>
              <a:path w="536" h="7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72"/>
                </a:lnTo>
                <a:cubicBezTo>
                  <a:pt x="4" y="73"/>
                  <a:pt x="5" y="74"/>
                  <a:pt x="6" y="74"/>
                </a:cubicBezTo>
                <a:cubicBezTo>
                  <a:pt x="3" y="74"/>
                  <a:pt x="0" y="71"/>
                  <a:pt x="0" y="6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6838950" y="4876800"/>
            <a:ext cx="48768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Existing research largely stops at algorithms; this project delivers a complete, field-ready operational loop.</a:t>
            </a:r>
            <a:endParaRPr lang="zh-CN" sz="1200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50" name="任意多边形 349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p/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381000" y="6600825"/>
            <a:ext cx="2390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 panose="020B0503020204020204" charset="-122"/>
                <a:ea typeface="Microsoft YaHei" panose="020B0503020204020204" charset="-122"/>
              </a:rPr>
              <a:t>One Health in Action · 2026 FLTRP·ETIC Cup</a:t>
            </a:r>
            <a:endParaRPr lang="en-US" sz="900">
              <a:solidFill>
                <a:srgbClr val="8B97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11372850" y="6600825"/>
            <a:ext cx="438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08 / 12</a:t>
            </a:r>
            <a:endParaRPr lang="en-US" sz="97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矩形 3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55" name="矩形 354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381000" y="161925"/>
            <a:ext cx="2514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9FB9E4"/>
                </a:solidFill>
                <a:latin typeface="Microsoft YaHei" panose="020B0503020204020204" charset="-122"/>
                <a:ea typeface="Microsoft YaHei" panose="020B0503020204020204" charset="-122"/>
              </a:rPr>
              <a:t>PART 3 · SOLVING THE PROBLEM</a:t>
            </a:r>
            <a:endParaRPr lang="en-US" sz="975" spc="150">
              <a:solidFill>
                <a:srgbClr val="9FB9E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381000" y="352425"/>
            <a:ext cx="2514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How It Works</a:t>
            </a:r>
            <a:endParaRPr lang="en-US" sz="217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11239500" y="142875"/>
            <a:ext cx="5715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>
                    <a:alpha val="18000"/>
                  </a:srgbClr>
                </a:solidFill>
                <a:latin typeface="Microsoft YaHei" panose="020B0503020204020204" charset="-122"/>
                <a:ea typeface="Microsoft YaHei" panose="020B0503020204020204" charset="-122"/>
              </a:rPr>
              <a:t>09</a:t>
            </a:r>
            <a:endParaRPr lang="en-US" sz="3600" b="1">
              <a:solidFill>
                <a:srgbClr val="FFFFFF">
                  <a:alpha val="18000"/>
                </a:srgb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381000" y="1047750"/>
            <a:ext cx="11430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From passive case intake to active early warning</a:t>
            </a:r>
            <a:endParaRPr lang="zh-CN" sz="15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60" name="圆角矩形 359"/>
          <p:cNvSpPr/>
          <p:nvPr/>
        </p:nvSpPr>
        <p:spPr>
          <a:xfrm>
            <a:off x="381000" y="1333500"/>
            <a:ext cx="1123950" cy="6096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428625" y="1562100"/>
            <a:ext cx="102870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Data Collection</a:t>
            </a:r>
            <a:endParaRPr lang="en-US" sz="105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362" name="图片 36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2100" y="1571625"/>
            <a:ext cx="209550" cy="133350"/>
          </a:xfrm>
          <a:prstGeom prst="rect">
            <a:avLst/>
          </a:prstGeom>
        </p:spPr>
      </p:pic>
      <p:sp>
        <p:nvSpPr>
          <p:cNvPr id="363" name="圆角矩形 362"/>
          <p:cNvSpPr/>
          <p:nvPr/>
        </p:nvSpPr>
        <p:spPr>
          <a:xfrm>
            <a:off x="1828800" y="1333500"/>
            <a:ext cx="1123950" cy="6096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2076450" y="156210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AI Fusion</a:t>
            </a:r>
            <a:endParaRPr lang="en-US" sz="105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365" name="图片 36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9900" y="1571625"/>
            <a:ext cx="209550" cy="133350"/>
          </a:xfrm>
          <a:prstGeom prst="rect">
            <a:avLst/>
          </a:prstGeom>
        </p:spPr>
      </p:pic>
      <p:sp>
        <p:nvSpPr>
          <p:cNvPr id="366" name="圆角矩形 365"/>
          <p:cNvSpPr/>
          <p:nvPr/>
        </p:nvSpPr>
        <p:spPr>
          <a:xfrm>
            <a:off x="3276600" y="1333500"/>
            <a:ext cx="1123950" cy="6096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67" name="文本框 366" descr="{&quot;isTemplate&quot;:true,&quot;type&quot;:&quot;text&quot;}"/>
          <p:cNvSpPr txBox="1"/>
          <p:nvPr/>
        </p:nvSpPr>
        <p:spPr>
          <a:xfrm>
            <a:off x="3381375" y="1562100"/>
            <a:ext cx="923925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Risk Mapping</a:t>
            </a:r>
            <a:endParaRPr lang="en-US" sz="105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368" name="图片 36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57700" y="1571625"/>
            <a:ext cx="209550" cy="133350"/>
          </a:xfrm>
          <a:prstGeom prst="rect">
            <a:avLst/>
          </a:prstGeom>
        </p:spPr>
      </p:pic>
      <p:sp>
        <p:nvSpPr>
          <p:cNvPr id="369" name="圆角矩形 368"/>
          <p:cNvSpPr/>
          <p:nvPr/>
        </p:nvSpPr>
        <p:spPr>
          <a:xfrm>
            <a:off x="4724400" y="1333500"/>
            <a:ext cx="1123950" cy="6096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</p:spPr>
        <p:txBody>
          <a:bodyPr/>
          <a:p/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4819650" y="1562100"/>
            <a:ext cx="942975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Early Warning</a:t>
            </a:r>
            <a:endParaRPr lang="en-US" sz="10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371" name="图片 37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5500" y="1571625"/>
            <a:ext cx="209550" cy="133350"/>
          </a:xfrm>
          <a:prstGeom prst="rect">
            <a:avLst/>
          </a:prstGeom>
        </p:spPr>
      </p:pic>
      <p:sp>
        <p:nvSpPr>
          <p:cNvPr id="372" name="圆角矩形 371"/>
          <p:cNvSpPr/>
          <p:nvPr/>
        </p:nvSpPr>
        <p:spPr>
          <a:xfrm>
            <a:off x="6172200" y="1333500"/>
            <a:ext cx="1123950" cy="6096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6353175" y="1562100"/>
            <a:ext cx="771525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Verification</a:t>
            </a:r>
            <a:endParaRPr lang="en-US" sz="105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374" name="图片 37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53300" y="1571625"/>
            <a:ext cx="209550" cy="133350"/>
          </a:xfrm>
          <a:prstGeom prst="rect">
            <a:avLst/>
          </a:prstGeom>
        </p:spPr>
      </p:pic>
      <p:sp>
        <p:nvSpPr>
          <p:cNvPr id="375" name="圆角矩形 374"/>
          <p:cNvSpPr/>
          <p:nvPr/>
        </p:nvSpPr>
        <p:spPr>
          <a:xfrm>
            <a:off x="7620000" y="1333500"/>
            <a:ext cx="1123950" cy="6096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7762875" y="1562100"/>
            <a:ext cx="83820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Intervention</a:t>
            </a:r>
            <a:endParaRPr lang="en-US" sz="105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377" name="图片 37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01100" y="1571625"/>
            <a:ext cx="209550" cy="133350"/>
          </a:xfrm>
          <a:prstGeom prst="rect">
            <a:avLst/>
          </a:prstGeom>
        </p:spPr>
      </p:pic>
      <p:sp>
        <p:nvSpPr>
          <p:cNvPr id="378" name="圆角矩形 377"/>
          <p:cNvSpPr/>
          <p:nvPr/>
        </p:nvSpPr>
        <p:spPr>
          <a:xfrm>
            <a:off x="9067800" y="1333500"/>
            <a:ext cx="1123950" cy="609600"/>
          </a:xfrm>
          <a:prstGeom prst="roundRect">
            <a:avLst>
              <a:gd name="adj" fmla="val 12500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9296400" y="1562100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Education</a:t>
            </a:r>
            <a:endParaRPr lang="en-US" sz="105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80" name="圆角矩形 379"/>
          <p:cNvSpPr/>
          <p:nvPr/>
        </p:nvSpPr>
        <p:spPr>
          <a:xfrm>
            <a:off x="381000" y="2095500"/>
            <a:ext cx="6372225" cy="4229100"/>
          </a:xfrm>
          <a:prstGeom prst="roundRect">
            <a:avLst>
              <a:gd name="adj" fmla="val 225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1" name="文本框 380" descr="{&quot;isTemplate&quot;:true,&quot;type&quot;:&quot;text&quot;}"/>
          <p:cNvSpPr txBox="1"/>
          <p:nvPr/>
        </p:nvSpPr>
        <p:spPr>
          <a:xfrm>
            <a:off x="552450" y="2266950"/>
            <a:ext cx="60293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Multi-source fusion, closed-loop response</a:t>
            </a:r>
            <a:endParaRPr lang="en-US" sz="1425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552450" y="2562225"/>
            <a:ext cx="60293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75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· Four streams in: livestock quarantine, herd density, environmental data, past human cases.</a:t>
            </a:r>
            <a:endParaRPr lang="en-US" sz="1275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552450" y="3190875"/>
            <a:ext cx="602932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75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· AI pinpoints high-risk townships, farms and exposed groups.</a:t>
            </a:r>
            <a:endParaRPr lang="en-US" sz="1275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552450" y="3533775"/>
            <a:ext cx="60293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75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· Dual-line verification by animal-husbandry and health teams, then disinfection, isolation, screening and health education.</a:t>
            </a:r>
            <a:endParaRPr lang="en-US" sz="1275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85" name="圆角矩形 384"/>
          <p:cNvSpPr/>
          <p:nvPr/>
        </p:nvSpPr>
        <p:spPr>
          <a:xfrm>
            <a:off x="6905625" y="2095500"/>
            <a:ext cx="4905375" cy="4229100"/>
          </a:xfrm>
          <a:prstGeom prst="roundRect">
            <a:avLst>
              <a:gd name="adj" fmla="val 2252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86" name="文本框 385" descr="{&quot;isTemplate&quot;:true,&quot;type&quot;:&quot;text&quot;}"/>
          <p:cNvSpPr txBox="1"/>
          <p:nvPr/>
        </p:nvSpPr>
        <p:spPr>
          <a:xfrm>
            <a:off x="7077075" y="2266950"/>
            <a:ext cx="4562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FB9E4"/>
                </a:solidFill>
                <a:latin typeface="Microsoft YaHei" panose="020B0503020204020204" charset="-122"/>
                <a:ea typeface="Microsoft YaHei" panose="020B0503020204020204" charset="-122"/>
              </a:rPr>
              <a:t>CURRENT PROGRESS</a:t>
            </a:r>
            <a:endParaRPr lang="en-US" sz="1050" spc="150">
              <a:solidFill>
                <a:srgbClr val="9FB9E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87" name="矩形 386"/>
          <p:cNvSpPr/>
          <p:nvPr/>
        </p:nvSpPr>
        <p:spPr>
          <a:xfrm>
            <a:off x="7077075" y="2524125"/>
            <a:ext cx="53340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388" name="圆角矩形 387"/>
          <p:cNvSpPr/>
          <p:nvPr/>
        </p:nvSpPr>
        <p:spPr>
          <a:xfrm>
            <a:off x="7077075" y="27051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D7BD9"/>
          </a:solidFill>
        </p:spPr>
        <p:txBody>
          <a:bodyPr/>
          <a:p/>
        </p:txBody>
      </p:sp>
      <p:sp>
        <p:nvSpPr>
          <p:cNvPr id="389" name="文本框 388" descr="{&quot;isTemplate&quot;:true,&quot;type&quot;:&quot;text&quot;}"/>
          <p:cNvSpPr txBox="1"/>
          <p:nvPr/>
        </p:nvSpPr>
        <p:spPr>
          <a:xfrm>
            <a:off x="7248525" y="2647950"/>
            <a:ext cx="17526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Prototype system built</a:t>
            </a:r>
            <a:endParaRPr lang="en-US" sz="1275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90" name="圆角矩形 389"/>
          <p:cNvSpPr/>
          <p:nvPr/>
        </p:nvSpPr>
        <p:spPr>
          <a:xfrm>
            <a:off x="7077075" y="29813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D7BD9"/>
          </a:solidFill>
        </p:spPr>
        <p:txBody>
          <a:bodyPr/>
          <a:p/>
        </p:txBody>
      </p:sp>
      <p:sp>
        <p:nvSpPr>
          <p:cNvPr id="391" name="文本框 390" descr="{&quot;isTemplate&quot;:true,&quot;type&quot;:&quot;text&quot;}"/>
          <p:cNvSpPr txBox="1"/>
          <p:nvPr/>
        </p:nvSpPr>
        <p:spPr>
          <a:xfrm>
            <a:off x="7248525" y="2924175"/>
            <a:ext cx="1409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Pilot planned next</a:t>
            </a:r>
            <a:endParaRPr lang="en-US" sz="1275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92" name="圆角矩形 391"/>
          <p:cNvSpPr/>
          <p:nvPr/>
        </p:nvSpPr>
        <p:spPr>
          <a:xfrm>
            <a:off x="7077075" y="3257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D7BD9"/>
          </a:solidFill>
        </p:spPr>
        <p:txBody>
          <a:bodyPr/>
          <a:p/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7248525" y="3200400"/>
            <a:ext cx="34385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To validate accuracy and grassroots usability</a:t>
            </a:r>
            <a:endParaRPr lang="en-US" sz="1275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94" name="任意多边形 393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p/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381000" y="6600825"/>
            <a:ext cx="2390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 panose="020B0503020204020204" charset="-122"/>
                <a:ea typeface="Microsoft YaHei" panose="020B0503020204020204" charset="-122"/>
              </a:rPr>
              <a:t>One Health in Action · 2026 FLTRP·ETIC Cup</a:t>
            </a:r>
            <a:endParaRPr lang="en-US" sz="900">
              <a:solidFill>
                <a:srgbClr val="8B97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96" name="文本框 395" descr="{&quot;isTemplate&quot;:true,&quot;type&quot;:&quot;text&quot;}"/>
          <p:cNvSpPr txBox="1"/>
          <p:nvPr/>
        </p:nvSpPr>
        <p:spPr>
          <a:xfrm>
            <a:off x="11372850" y="6600825"/>
            <a:ext cx="438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09 / 12</a:t>
            </a:r>
            <a:endParaRPr lang="en-US" sz="97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0" name="矩形 39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381000" y="161925"/>
            <a:ext cx="3552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9FB9E4"/>
                </a:solidFill>
                <a:latin typeface="Microsoft YaHei" panose="020B0503020204020204" charset="-122"/>
                <a:ea typeface="Microsoft YaHei" panose="020B0503020204020204" charset="-122"/>
              </a:rPr>
              <a:t>PART 3 · SOLVING THE PROBLEM</a:t>
            </a:r>
            <a:endParaRPr lang="en-US" sz="975" spc="150">
              <a:solidFill>
                <a:srgbClr val="9FB9E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381000" y="352425"/>
            <a:ext cx="355282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Why This Solution Stands</a:t>
            </a:r>
            <a:endParaRPr lang="en-US" sz="217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11239500" y="142875"/>
            <a:ext cx="5715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>
                    <a:alpha val="18000"/>
                  </a:srgbClr>
                </a:solidFill>
                <a:latin typeface="Microsoft YaHei" panose="020B0503020204020204" charset="-122"/>
                <a:ea typeface="Microsoft YaHei" panose="020B0503020204020204" charset="-122"/>
              </a:rPr>
              <a:t>10</a:t>
            </a:r>
            <a:endParaRPr lang="en-US" sz="3600" b="1">
              <a:solidFill>
                <a:srgbClr val="FFFFFF">
                  <a:alpha val="18000"/>
                </a:srgb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381000" y="1047750"/>
            <a:ext cx="5648325" cy="2219325"/>
          </a:xfrm>
          <a:prstGeom prst="roundRect">
            <a:avLst>
              <a:gd name="adj" fmla="val 343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45" name="任意多边形 44"/>
          <p:cNvSpPr/>
          <p:nvPr/>
        </p:nvSpPr>
        <p:spPr>
          <a:xfrm>
            <a:off x="381000" y="1047750"/>
            <a:ext cx="5648325" cy="2219325"/>
          </a:xfrm>
          <a:custGeom>
            <a:avLst/>
            <a:gdLst/>
            <a:ahLst/>
            <a:cxnLst/>
            <a:pathLst>
              <a:path w="593" h="233">
                <a:moveTo>
                  <a:pt x="585" y="0"/>
                </a:moveTo>
                <a:cubicBezTo>
                  <a:pt x="589" y="0"/>
                  <a:pt x="592" y="3"/>
                  <a:pt x="593" y="7"/>
                </a:cubicBezTo>
                <a:cubicBezTo>
                  <a:pt x="592" y="5"/>
                  <a:pt x="591" y="4"/>
                  <a:pt x="589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585" y="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514350" y="1181100"/>
            <a:ext cx="53816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Academic Grounding</a:t>
            </a:r>
            <a:endParaRPr lang="en-US" sz="15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514350" y="1466850"/>
            <a:ext cx="53816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75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Built on the One Health framework and epidemiological modelling — risk is inferred from transmission chains, not guesswork.</a:t>
            </a:r>
            <a:endParaRPr lang="en-US" sz="1275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6162675" y="1047750"/>
            <a:ext cx="5648325" cy="2219325"/>
          </a:xfrm>
          <a:prstGeom prst="roundRect">
            <a:avLst>
              <a:gd name="adj" fmla="val 343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49" name="任意多边形 48"/>
          <p:cNvSpPr/>
          <p:nvPr/>
        </p:nvSpPr>
        <p:spPr>
          <a:xfrm>
            <a:off x="6162675" y="1047750"/>
            <a:ext cx="5648325" cy="2219325"/>
          </a:xfrm>
          <a:custGeom>
            <a:avLst/>
            <a:gdLst/>
            <a:ahLst/>
            <a:cxnLst/>
            <a:pathLst>
              <a:path w="593" h="233">
                <a:moveTo>
                  <a:pt x="585" y="0"/>
                </a:moveTo>
                <a:cubicBezTo>
                  <a:pt x="589" y="0"/>
                  <a:pt x="592" y="3"/>
                  <a:pt x="593" y="7"/>
                </a:cubicBezTo>
                <a:cubicBezTo>
                  <a:pt x="592" y="5"/>
                  <a:pt x="591" y="4"/>
                  <a:pt x="589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585" y="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6296025" y="1181100"/>
            <a:ext cx="53816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Innovation</a:t>
            </a:r>
            <a:endParaRPr lang="en-US" sz="15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6296025" y="1466850"/>
            <a:ext cx="53816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A lightweight early-warning loop built for the grassroots rather than the lab — a step existing studies rarely take.</a:t>
            </a:r>
            <a:endParaRPr lang="zh-CN" sz="1275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381000" y="3381375"/>
            <a:ext cx="5648325" cy="2495550"/>
          </a:xfrm>
          <a:prstGeom prst="roundRect">
            <a:avLst>
              <a:gd name="adj" fmla="val 305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53" name="任意多边形 52"/>
          <p:cNvSpPr/>
          <p:nvPr/>
        </p:nvSpPr>
        <p:spPr>
          <a:xfrm>
            <a:off x="381000" y="3381375"/>
            <a:ext cx="5648325" cy="2495550"/>
          </a:xfrm>
          <a:custGeom>
            <a:avLst/>
            <a:gdLst/>
            <a:ahLst/>
            <a:cxnLst/>
            <a:pathLst>
              <a:path w="593" h="262">
                <a:moveTo>
                  <a:pt x="585" y="0"/>
                </a:moveTo>
                <a:cubicBezTo>
                  <a:pt x="589" y="0"/>
                  <a:pt x="592" y="3"/>
                  <a:pt x="593" y="7"/>
                </a:cubicBezTo>
                <a:cubicBezTo>
                  <a:pt x="592" y="5"/>
                  <a:pt x="591" y="4"/>
                  <a:pt x="589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585" y="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514350" y="3514725"/>
            <a:ext cx="53816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Interdisciplinarity · Four New Disciplines</a:t>
            </a:r>
            <a:endParaRPr lang="en-US" sz="15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514350" y="3800475"/>
            <a:ext cx="1152525" cy="219075"/>
          </a:xfrm>
          <a:prstGeom prst="roundRect">
            <a:avLst>
              <a:gd name="adj" fmla="val 52174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609600" y="3829050"/>
            <a:ext cx="962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New Medicine</a:t>
            </a:r>
            <a:endParaRPr lang="en-US" sz="1050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1724025" y="3800475"/>
            <a:ext cx="1295400" cy="219075"/>
          </a:xfrm>
          <a:prstGeom prst="roundRect">
            <a:avLst>
              <a:gd name="adj" fmla="val 52174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1819275" y="3829050"/>
            <a:ext cx="1104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New Agriculture</a:t>
            </a:r>
            <a:endParaRPr lang="en-US" sz="1050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3076575" y="3800475"/>
            <a:ext cx="1343025" cy="219075"/>
          </a:xfrm>
          <a:prstGeom prst="roundRect">
            <a:avLst>
              <a:gd name="adj" fmla="val 52174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3171825" y="3829050"/>
            <a:ext cx="1152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New Engineering</a:t>
            </a:r>
            <a:endParaRPr lang="en-US" sz="1050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4476750" y="3800475"/>
            <a:ext cx="1314450" cy="219075"/>
          </a:xfrm>
          <a:prstGeom prst="roundRect">
            <a:avLst>
              <a:gd name="adj" fmla="val 52174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4572000" y="3829050"/>
            <a:ext cx="1123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New Liberal Arts</a:t>
            </a:r>
            <a:endParaRPr lang="en-US" sz="1050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514350" y="4076700"/>
            <a:ext cx="53816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75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Public health, animal disease control, AI and data fusion, and global governance — joined in one working data-to-action pipeline.</a:t>
            </a:r>
            <a:endParaRPr lang="en-US" sz="1275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6162675" y="3381375"/>
            <a:ext cx="5648325" cy="2495550"/>
          </a:xfrm>
          <a:prstGeom prst="roundRect">
            <a:avLst>
              <a:gd name="adj" fmla="val 305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65" name="任意多边形 64"/>
          <p:cNvSpPr/>
          <p:nvPr/>
        </p:nvSpPr>
        <p:spPr>
          <a:xfrm>
            <a:off x="6162675" y="3381375"/>
            <a:ext cx="5648325" cy="2495550"/>
          </a:xfrm>
          <a:custGeom>
            <a:avLst/>
            <a:gdLst/>
            <a:ahLst/>
            <a:cxnLst/>
            <a:pathLst>
              <a:path w="593" h="262">
                <a:moveTo>
                  <a:pt x="585" y="0"/>
                </a:moveTo>
                <a:cubicBezTo>
                  <a:pt x="589" y="0"/>
                  <a:pt x="592" y="3"/>
                  <a:pt x="593" y="7"/>
                </a:cubicBezTo>
                <a:cubicBezTo>
                  <a:pt x="592" y="5"/>
                  <a:pt x="591" y="4"/>
                  <a:pt x="589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585" y="0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6296025" y="3514725"/>
            <a:ext cx="53816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Operability</a:t>
            </a:r>
            <a:endParaRPr lang="en-US" sz="15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6296025" y="3800475"/>
            <a:ext cx="53816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75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No new hardware, reuses existing data streams, deployable at county level — designed to run where resources are scarcest.</a:t>
            </a:r>
            <a:endParaRPr lang="en-US" sz="1275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381000" y="5953125"/>
            <a:ext cx="11430000" cy="390525"/>
          </a:xfrm>
          <a:prstGeom prst="roundRect">
            <a:avLst>
              <a:gd name="adj" fmla="val 19512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552450" y="6048375"/>
            <a:ext cx="6858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Grounded in theory, new in form, cross-disciplinary in method, and ready to deploy.</a:t>
            </a:r>
            <a:endParaRPr lang="en-US" sz="127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0" name="任意多边形 69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p/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381000" y="6600825"/>
            <a:ext cx="2390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 panose="020B0503020204020204" charset="-122"/>
                <a:ea typeface="Microsoft YaHei" panose="020B0503020204020204" charset="-122"/>
              </a:rPr>
              <a:t>One Health in Action · 2026 FLTRP·ETIC Cup</a:t>
            </a:r>
            <a:endParaRPr lang="en-US" sz="900">
              <a:solidFill>
                <a:srgbClr val="8B97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11372850" y="6600825"/>
            <a:ext cx="438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10 / 12</a:t>
            </a:r>
            <a:endParaRPr lang="en-US" sz="97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75" name="矩形 74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381000" y="161925"/>
            <a:ext cx="6134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9FB9E4"/>
                </a:solidFill>
                <a:latin typeface="Microsoft YaHei" panose="020B0503020204020204" charset="-122"/>
                <a:ea typeface="Microsoft YaHei" panose="020B0503020204020204" charset="-122"/>
              </a:rPr>
              <a:t>PART 3 · SOLVING THE PROBLEM</a:t>
            </a:r>
            <a:endParaRPr lang="en-US" sz="975" spc="150">
              <a:solidFill>
                <a:srgbClr val="9FB9E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381000" y="352425"/>
            <a:ext cx="61341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Expected Outcomes and Global Implications</a:t>
            </a:r>
            <a:endParaRPr lang="en-US" sz="2175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11239500" y="142875"/>
            <a:ext cx="5715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>
                    <a:alpha val="18000"/>
                  </a:srgbClr>
                </a:solidFill>
                <a:latin typeface="Microsoft YaHei" panose="020B0503020204020204" charset="-122"/>
                <a:ea typeface="Microsoft YaHei" panose="020B0503020204020204" charset="-122"/>
              </a:rPr>
              <a:t>11</a:t>
            </a:r>
            <a:endParaRPr lang="en-US" sz="3600" b="1">
              <a:solidFill>
                <a:srgbClr val="FFFFFF">
                  <a:alpha val="18000"/>
                </a:srgb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381000" y="1009650"/>
            <a:ext cx="114300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533400" y="1162050"/>
            <a:ext cx="111252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Expected Outcomes</a:t>
            </a:r>
            <a:endParaRPr lang="en-US" sz="15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533400" y="1466850"/>
            <a:ext cx="3629025" cy="381000"/>
          </a:xfrm>
          <a:prstGeom prst="roundRect">
            <a:avLst>
              <a:gd name="adj" fmla="val 2000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628650" y="1571625"/>
            <a:ext cx="180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01</a:t>
            </a:r>
            <a:endParaRPr lang="en-US" sz="112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885825" y="1562100"/>
            <a:ext cx="31813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A working prototype platform</a:t>
            </a:r>
            <a:endParaRPr lang="en-US" sz="1200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4276725" y="1466850"/>
            <a:ext cx="3638550" cy="381000"/>
          </a:xfrm>
          <a:prstGeom prst="roundRect">
            <a:avLst>
              <a:gd name="adj" fmla="val 2000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4371975" y="1571625"/>
            <a:ext cx="180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02</a:t>
            </a:r>
            <a:endParaRPr lang="en-US" sz="112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4629150" y="1562100"/>
            <a:ext cx="31908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A pilot-validated warning model</a:t>
            </a:r>
            <a:endParaRPr lang="en-US" sz="1200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8029575" y="1466850"/>
            <a:ext cx="3629025" cy="381000"/>
          </a:xfrm>
          <a:prstGeom prst="roundRect">
            <a:avLst>
              <a:gd name="adj" fmla="val 20000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8124825" y="1571625"/>
            <a:ext cx="180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03</a:t>
            </a:r>
            <a:endParaRPr lang="en-US" sz="112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8382000" y="1562100"/>
            <a:ext cx="31813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A county-level deployment guide</a:t>
            </a:r>
            <a:endParaRPr lang="en-US" sz="1200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0" name="圆角矩形 89"/>
          <p:cNvSpPr/>
          <p:nvPr/>
        </p:nvSpPr>
        <p:spPr>
          <a:xfrm>
            <a:off x="381000" y="2133600"/>
            <a:ext cx="11430000" cy="4210050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533400" y="2286000"/>
            <a:ext cx="111252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Global Implications: A Replicable China Paradigm</a:t>
            </a:r>
            <a:endParaRPr lang="en-US" sz="15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533400" y="3762375"/>
            <a:ext cx="64198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75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· A low-cost digital path instead of expensive equipment stacks — within reach of developing countries.</a:t>
            </a:r>
            <a:endParaRPr lang="en-US" sz="1275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533400" y="4391025"/>
            <a:ext cx="64198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75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· From a single medical lens to One Health cross-sector coordination.</a:t>
            </a:r>
            <a:endParaRPr lang="en-US" sz="1275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533400" y="4733925"/>
            <a:ext cx="641985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75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· Big data and AI close the grassroots public-health gap at low cost.</a:t>
            </a:r>
            <a:endParaRPr lang="en-US" sz="1275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7067550" y="2590800"/>
            <a:ext cx="4591050" cy="3600450"/>
          </a:xfrm>
          <a:prstGeom prst="roundRect">
            <a:avLst>
              <a:gd name="adj" fmla="val 2646"/>
            </a:avLst>
          </a:prstGeom>
          <a:solidFill>
            <a:srgbClr val="F0F5FC"/>
          </a:solidFill>
        </p:spPr>
        <p:txBody>
          <a:bodyPr/>
          <a:p/>
        </p:txBody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4825" y="3800475"/>
            <a:ext cx="2476500" cy="666750"/>
          </a:xfrm>
          <a:prstGeom prst="rect">
            <a:avLst/>
          </a:prstGeom>
        </p:spPr>
      </p:pic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7200900" y="4524375"/>
            <a:ext cx="4324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35000"/>
              </a:lnSpc>
            </a:pPr>
            <a:r>
              <a:rPr lang="zh-CN" sz="1125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Adapting abroad means localising data interfaces, delivery channels and mandates — not copying.</a:t>
            </a:r>
            <a:endParaRPr lang="zh-CN" sz="1125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8" name="任意多边形 97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p/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381000" y="6600825"/>
            <a:ext cx="2390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 panose="020B0503020204020204" charset="-122"/>
                <a:ea typeface="Microsoft YaHei" panose="020B0503020204020204" charset="-122"/>
              </a:rPr>
              <a:t>One Health in Action · 2026 FLTRP·ETIC Cup</a:t>
            </a:r>
            <a:endParaRPr lang="en-US" sz="900">
              <a:solidFill>
                <a:srgbClr val="8B97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11372850" y="6600825"/>
            <a:ext cx="438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11 / 12</a:t>
            </a:r>
            <a:endParaRPr lang="en-US" sz="97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矩形 1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03" name="矩形 102"/>
          <p:cNvSpPr/>
          <p:nvPr/>
        </p:nvSpPr>
        <p:spPr>
          <a:xfrm>
            <a:off x="0" y="0"/>
            <a:ext cx="3619500" cy="64770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381000" y="381000"/>
            <a:ext cx="2857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9FB9E4"/>
                </a:solidFill>
                <a:latin typeface="Microsoft YaHei" panose="020B0503020204020204" charset="-122"/>
                <a:ea typeface="Microsoft YaHei" panose="020B0503020204020204" charset="-122"/>
              </a:rPr>
              <a:t>CONCLUSION</a:t>
            </a:r>
            <a:endParaRPr lang="en-US" sz="1050" spc="150">
              <a:solidFill>
                <a:srgbClr val="9FB9E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381000" y="695325"/>
            <a:ext cx="2857500" cy="1581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255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Earlier. More accurate. More inclusive.</a:t>
            </a:r>
            <a:endParaRPr lang="en-US" sz="255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381000" y="2428875"/>
            <a:ext cx="533400" cy="28575"/>
          </a:xfrm>
          <a:prstGeom prst="rect">
            <a:avLst/>
          </a:prstGeom>
          <a:solidFill>
            <a:srgbClr val="3D7BD9"/>
          </a:solidFill>
        </p:spPr>
        <p:txBody>
          <a:bodyPr/>
          <a:p/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381000" y="2609850"/>
            <a:ext cx="2857500" cy="1352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425">
                <a:solidFill>
                  <a:srgbClr val="BCD0EE"/>
                </a:solidFill>
                <a:latin typeface="Microsoft YaHei" panose="020B0503020204020204" charset="-122"/>
                <a:ea typeface="Microsoft YaHei" panose="020B0503020204020204" charset="-122"/>
              </a:rPr>
              <a:t>AI + One Health can bring brucellosis early warning within reach of the grassroots — in China and beyond.</a:t>
            </a:r>
            <a:endParaRPr lang="en-US" sz="1425">
              <a:solidFill>
                <a:srgbClr val="BCD0E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381000" y="5543550"/>
            <a:ext cx="28575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>
                    <a:alpha val="18000"/>
                  </a:srgbClr>
                </a:solidFill>
                <a:latin typeface="Microsoft YaHei" panose="020B0503020204020204" charset="-122"/>
                <a:ea typeface="Microsoft YaHei" panose="020B0503020204020204" charset="-122"/>
              </a:rPr>
              <a:t>12</a:t>
            </a:r>
            <a:endParaRPr lang="en-US" sz="3600" b="1">
              <a:solidFill>
                <a:srgbClr val="FFFFFF">
                  <a:alpha val="18000"/>
                </a:srgb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9" name="圆角矩形 108"/>
          <p:cNvSpPr/>
          <p:nvPr/>
        </p:nvSpPr>
        <p:spPr>
          <a:xfrm>
            <a:off x="4000500" y="1828800"/>
            <a:ext cx="7848600" cy="552450"/>
          </a:xfrm>
          <a:prstGeom prst="roundRect">
            <a:avLst>
              <a:gd name="adj" fmla="val 10345"/>
            </a:avLst>
          </a:prstGeom>
          <a:solidFill>
            <a:srgbClr val="F0F5FC"/>
          </a:solidFill>
        </p:spPr>
        <p:txBody>
          <a:bodyPr/>
          <a:p/>
        </p:txBody>
      </p:sp>
      <p:sp>
        <p:nvSpPr>
          <p:cNvPr id="110" name="任意多边形 109"/>
          <p:cNvSpPr/>
          <p:nvPr/>
        </p:nvSpPr>
        <p:spPr>
          <a:xfrm>
            <a:off x="4000500" y="1828800"/>
            <a:ext cx="7848600" cy="552450"/>
          </a:xfrm>
          <a:custGeom>
            <a:avLst/>
            <a:gdLst/>
            <a:ahLst/>
            <a:cxnLst/>
            <a:pathLst>
              <a:path w="824" h="58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56"/>
                </a:lnTo>
                <a:cubicBezTo>
                  <a:pt x="4" y="57"/>
                  <a:pt x="5" y="58"/>
                  <a:pt x="6" y="58"/>
                </a:cubicBezTo>
                <a:cubicBezTo>
                  <a:pt x="3" y="58"/>
                  <a:pt x="0" y="55"/>
                  <a:pt x="0" y="5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4152900" y="1943100"/>
            <a:ext cx="75057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00" b="1">
                <a:solidFill>
                  <a:srgbClr val="0E3F8C"/>
                </a:solidFill>
                <a:latin typeface="Microsoft YaHei" panose="020B0503020204020204" charset="-122"/>
                <a:ea typeface="Microsoft YaHei" panose="020B0503020204020204" charset="-122"/>
              </a:rPr>
              <a:t>Thank you. Questions and comments are welcome.</a:t>
            </a:r>
            <a:endParaRPr lang="en-US" sz="1500" b="1">
              <a:solidFill>
                <a:srgbClr val="0E3F8C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3962400" y="2514600"/>
            <a:ext cx="78486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1A2230"/>
                </a:solidFill>
                <a:latin typeface="Microsoft YaHei" panose="020B0503020204020204" charset="-122"/>
                <a:ea typeface="Microsoft YaHei" panose="020B0503020204020204" charset="-122"/>
              </a:rPr>
              <a:t>REFERENCES</a:t>
            </a:r>
            <a:endParaRPr lang="en-US" sz="1125" b="1" spc="75">
              <a:solidFill>
                <a:srgbClr val="1A223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3962400" y="2724150"/>
            <a:ext cx="419100" cy="1905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3962400" y="2876550"/>
            <a:ext cx="2000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[1]</a:t>
            </a:r>
            <a:endParaRPr lang="en-US" sz="112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4238625" y="2876550"/>
            <a:ext cx="75723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World Health Organization. Brucellosis in Humans and Animals. Geneva: WHO Press, 2006.</a:t>
            </a:r>
            <a:endParaRPr lang="en-US" sz="1125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3962400" y="3200400"/>
            <a:ext cx="200025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[2]</a:t>
            </a:r>
            <a:endParaRPr lang="en-US" sz="112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4238625" y="3200400"/>
            <a:ext cx="757237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125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Franc KA, Krecek RC, Hasler BN, Arenas-Gamboa AM. Brucellosis remains a neglected disease in the developing world. BMC Public Health, 2018, 18(1): 125.</a:t>
            </a:r>
            <a:endParaRPr lang="en-US" sz="1125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3962400" y="3762375"/>
            <a:ext cx="200025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[3]</a:t>
            </a:r>
            <a:endParaRPr lang="en-US" sz="112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4238625" y="3762375"/>
            <a:ext cx="757237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125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Wang W, et al. Epidemiological characteristics of human brucellosis in China. Chinese Journal of Preventive Medicine, 2023, 57(10): 1477-1483.</a:t>
            </a:r>
            <a:endParaRPr lang="en-US" sz="1125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3962400" y="4324350"/>
            <a:ext cx="200025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[4]</a:t>
            </a:r>
            <a:endParaRPr lang="en-US" sz="112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4238625" y="4324350"/>
            <a:ext cx="757237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125">
                <a:solidFill>
                  <a:srgbClr val="4A5568"/>
                </a:solidFill>
                <a:latin typeface="Microsoft YaHei" panose="020B0503020204020204" charset="-122"/>
                <a:ea typeface="Microsoft YaHei" panose="020B0503020204020204" charset="-122"/>
              </a:rPr>
              <a:t>National Health Commission of the PRC. National Action Plan for Brucellosis Prevention and Control (2021-2025). Beijing, 2021.</a:t>
            </a:r>
            <a:endParaRPr lang="en-US" sz="1125">
              <a:solidFill>
                <a:srgbClr val="4A556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2" name="任意多边形 121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</p:spPr>
        <p:txBody>
          <a:bodyPr/>
          <a:p/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381000" y="6600825"/>
            <a:ext cx="23907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 panose="020B0503020204020204" charset="-122"/>
                <a:ea typeface="Microsoft YaHei" panose="020B0503020204020204" charset="-122"/>
              </a:rPr>
              <a:t>One Health in Action · 2026 FLTRP·ETIC Cup</a:t>
            </a:r>
            <a:endParaRPr lang="en-US" sz="900">
              <a:solidFill>
                <a:srgbClr val="8B97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11372850" y="6600825"/>
            <a:ext cx="438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 panose="020B0503020204020204" charset="-122"/>
                <a:ea typeface="Microsoft YaHei" panose="020B0503020204020204" charset="-122"/>
              </a:rPr>
              <a:t>12 / 12</a:t>
            </a:r>
            <a:endParaRPr lang="en-US" sz="975" b="1">
              <a:solidFill>
                <a:srgbClr val="1E4FA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8268</Words>
  <Application>WPS 演示</Application>
  <PresentationFormat/>
  <Paragraphs>422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Microsoft YaHei</vt:lpstr>
      <vt:lpstr>Times New Roman</vt:lpstr>
      <vt:lpstr>Calibri</vt:lpstr>
      <vt:lpstr>Arial Unicode MS</vt:lpstr>
      <vt:lpstr>DengXian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龙海锋</cp:lastModifiedBy>
  <cp:revision>1</cp:revision>
  <dcterms:created xsi:type="dcterms:W3CDTF">2026-09-12T13:25:40Z</dcterms:created>
  <dcterms:modified xsi:type="dcterms:W3CDTF">2026-09-12T13:25:40Z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2D0CA7BF4EE5475A9E9DC68235674F4D_12</vt:lpwstr>
  </property>
  <property fmtid="{D5CDD505-2E9C-101B-9397-08002B2CF9AE}" pid="3" name="KSOProductBuildVer">
    <vt:lpwstr>2052-12.1.0.28599</vt:lpwstr>
  </property>
</Properties>
</file>